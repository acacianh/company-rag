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media/image1.jpeg" ContentType="image/jpeg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9906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DEEF"/>
          </a:solidFill>
        </a:fill>
      </a:tcStyle>
    </a:wholeTbl>
    <a:band2H>
      <a:tcTxStyle b="def" i="def"/>
      <a:tcStyle>
        <a:tcBdr/>
        <a:fill>
          <a:solidFill>
            <a:srgbClr val="E9EFF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DEEF"/>
          </a:solidFill>
        </a:fill>
      </a:tcStyle>
    </a:wholeTbl>
    <a:band2H>
      <a:tcTxStyle b="def" i="def"/>
      <a:tcStyle>
        <a:tcBdr/>
        <a:fill>
          <a:solidFill>
            <a:srgbClr val="E9EFF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3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4" name="Shape 54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n-lt"/>
        <a:ea typeface="+mn-ea"/>
        <a:cs typeface="+mn-cs"/>
        <a:sym typeface="Arial"/>
      </a:defRPr>
    </a:lvl1pPr>
    <a:lvl2pPr indent="228600" latinLnBrk="0">
      <a:defRPr sz="1400">
        <a:latin typeface="+mn-lt"/>
        <a:ea typeface="+mn-ea"/>
        <a:cs typeface="+mn-cs"/>
        <a:sym typeface="Arial"/>
      </a:defRPr>
    </a:lvl2pPr>
    <a:lvl3pPr indent="457200" latinLnBrk="0">
      <a:defRPr sz="1400">
        <a:latin typeface="+mn-lt"/>
        <a:ea typeface="+mn-ea"/>
        <a:cs typeface="+mn-cs"/>
        <a:sym typeface="Arial"/>
      </a:defRPr>
    </a:lvl3pPr>
    <a:lvl4pPr indent="685800" latinLnBrk="0">
      <a:defRPr sz="1400">
        <a:latin typeface="+mn-lt"/>
        <a:ea typeface="+mn-ea"/>
        <a:cs typeface="+mn-cs"/>
        <a:sym typeface="Arial"/>
      </a:defRPr>
    </a:lvl4pPr>
    <a:lvl5pPr indent="914400" latinLnBrk="0">
      <a:defRPr sz="1400">
        <a:latin typeface="+mn-lt"/>
        <a:ea typeface="+mn-ea"/>
        <a:cs typeface="+mn-cs"/>
        <a:sym typeface="Arial"/>
      </a:defRPr>
    </a:lvl5pPr>
    <a:lvl6pPr indent="1143000" latinLnBrk="0">
      <a:defRPr sz="1400">
        <a:latin typeface="+mn-lt"/>
        <a:ea typeface="+mn-ea"/>
        <a:cs typeface="+mn-cs"/>
        <a:sym typeface="Arial"/>
      </a:defRPr>
    </a:lvl6pPr>
    <a:lvl7pPr indent="1371600" latinLnBrk="0">
      <a:defRPr sz="1400">
        <a:latin typeface="+mn-lt"/>
        <a:ea typeface="+mn-ea"/>
        <a:cs typeface="+mn-cs"/>
        <a:sym typeface="Arial"/>
      </a:defRPr>
    </a:lvl7pPr>
    <a:lvl8pPr indent="1600200" latinLnBrk="0">
      <a:defRPr sz="1400">
        <a:latin typeface="+mn-lt"/>
        <a:ea typeface="+mn-ea"/>
        <a:cs typeface="+mn-cs"/>
        <a:sym typeface="Arial"/>
      </a:defRPr>
    </a:lvl8pPr>
    <a:lvl9pPr indent="1828800" latinLnBrk="0">
      <a:defRPr sz="14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1_I.제목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19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0;p14"/>
          <p:cNvSpPr/>
          <p:nvPr/>
        </p:nvSpPr>
        <p:spPr>
          <a:xfrm rot="5400000">
            <a:off x="-4353" y="4338"/>
            <a:ext cx="896474" cy="887781"/>
          </a:xfrm>
          <a:prstGeom prst="rect">
            <a:avLst/>
          </a:prstGeom>
          <a:solidFill>
            <a:srgbClr val="434E8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lnSpc>
                <a:spcPct val="120000"/>
              </a:lnSpc>
              <a:defRPr sz="1100">
                <a:solidFill>
                  <a:srgbClr val="FFFFFF"/>
                </a:solidFill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27" name="Google Shape;21;p14"/>
          <p:cNvSpPr/>
          <p:nvPr/>
        </p:nvSpPr>
        <p:spPr>
          <a:xfrm rot="5400000">
            <a:off x="4948647" y="-4060881"/>
            <a:ext cx="896474" cy="9018232"/>
          </a:xfrm>
          <a:prstGeom prst="rect">
            <a:avLst/>
          </a:prstGeom>
          <a:solidFill>
            <a:srgbClr val="434E81">
              <a:alpha val="9803"/>
            </a:srgbClr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lnSpc>
                <a:spcPct val="120000"/>
              </a:lnSpc>
              <a:defRPr sz="1100">
                <a:solidFill>
                  <a:srgbClr val="FFFFFF"/>
                </a:solidFill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28" name="본문 첫 번째 줄…"/>
          <p:cNvSpPr txBox="1"/>
          <p:nvPr>
            <p:ph type="body" sz="quarter" idx="1"/>
          </p:nvPr>
        </p:nvSpPr>
        <p:spPr>
          <a:xfrm>
            <a:off x="131491" y="151640"/>
            <a:ext cx="627526" cy="595422"/>
          </a:xfrm>
          <a:prstGeom prst="rect">
            <a:avLst/>
          </a:prstGeom>
        </p:spPr>
        <p:txBody>
          <a:bodyPr lIns="36000" tIns="36000" rIns="36000" bIns="36000" anchor="ctr"/>
          <a:lstStyle>
            <a:lvl1pPr marL="0" indent="228600" algn="ctr">
              <a:lnSpc>
                <a:spcPct val="100000"/>
              </a:lnSpc>
              <a:buClrTx/>
              <a:buSzTx/>
              <a:buFontTx/>
              <a:buNone/>
              <a:defRPr b="1" sz="3600">
                <a:solidFill>
                  <a:schemeClr val="accent4"/>
                </a:solidFill>
              </a:defRPr>
            </a:lvl1pPr>
            <a:lvl2pPr marL="0" indent="228600" algn="ctr">
              <a:lnSpc>
                <a:spcPct val="100000"/>
              </a:lnSpc>
              <a:buClrTx/>
              <a:buSzTx/>
              <a:buFontTx/>
              <a:buNone/>
              <a:defRPr b="1" sz="3600">
                <a:solidFill>
                  <a:schemeClr val="accent4"/>
                </a:solidFill>
              </a:defRPr>
            </a:lvl2pPr>
            <a:lvl3pPr marL="0" indent="228600" algn="ctr">
              <a:lnSpc>
                <a:spcPct val="100000"/>
              </a:lnSpc>
              <a:buClrTx/>
              <a:buSzTx/>
              <a:buFontTx/>
              <a:buNone/>
              <a:defRPr b="1" sz="3600">
                <a:solidFill>
                  <a:schemeClr val="accent4"/>
                </a:solidFill>
              </a:defRPr>
            </a:lvl3pPr>
            <a:lvl4pPr marL="0" indent="228600" algn="ctr">
              <a:lnSpc>
                <a:spcPct val="100000"/>
              </a:lnSpc>
              <a:buClrTx/>
              <a:buSzTx/>
              <a:buFontTx/>
              <a:buNone/>
              <a:defRPr b="1" sz="3600">
                <a:solidFill>
                  <a:schemeClr val="accent4"/>
                </a:solidFill>
              </a:defRPr>
            </a:lvl4pPr>
            <a:lvl5pPr marL="0" indent="228600" algn="ctr">
              <a:lnSpc>
                <a:spcPct val="100000"/>
              </a:lnSpc>
              <a:buClrTx/>
              <a:buSzTx/>
              <a:buFontTx/>
              <a:buNone/>
              <a:defRPr b="1" sz="3600">
                <a:solidFill>
                  <a:schemeClr val="accent4"/>
                </a:solidFill>
              </a:defRPr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29" name="제목 텍스트"/>
          <p:cNvSpPr txBox="1"/>
          <p:nvPr>
            <p:ph type="title"/>
          </p:nvPr>
        </p:nvSpPr>
        <p:spPr>
          <a:xfrm>
            <a:off x="1016520" y="306966"/>
            <a:ext cx="6130962" cy="440095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defRPr sz="2800">
                <a:solidFill>
                  <a:srgbClr val="434E81"/>
                </a:solidFill>
              </a:defRPr>
            </a:lvl1pPr>
          </a:lstStyle>
          <a:p>
            <a:pPr/>
            <a:r>
              <a:t>제목 텍스트</a:t>
            </a:r>
          </a:p>
        </p:txBody>
      </p:sp>
      <p:pic>
        <p:nvPicPr>
          <p:cNvPr id="30" name="그림 1" descr="그림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599440" y="6522770"/>
            <a:ext cx="1230696" cy="265161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그림 3" descr="그림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5877" y="6517947"/>
            <a:ext cx="860990" cy="269985"/>
          </a:xfrm>
          <a:prstGeom prst="rect">
            <a:avLst/>
          </a:prstGeom>
          <a:ln w="12700">
            <a:miter lim="400000"/>
          </a:ln>
        </p:spPr>
      </p:pic>
      <p:sp>
        <p:nvSpPr>
          <p:cNvPr id="32" name="슬라이드 번호"/>
          <p:cNvSpPr txBox="1"/>
          <p:nvPr>
            <p:ph type="sldNum" sz="quarter" idx="2"/>
          </p:nvPr>
        </p:nvSpPr>
        <p:spPr>
          <a:xfrm>
            <a:off x="4813762" y="6595735"/>
            <a:ext cx="278476" cy="202375"/>
          </a:xfrm>
          <a:prstGeom prst="rect">
            <a:avLst/>
          </a:prstGeom>
        </p:spPr>
        <p:txBody>
          <a:bodyPr/>
          <a:lstStyle>
            <a:lvl1pPr indent="-50800" algn="ctr">
              <a:buSzPts val="800"/>
              <a:buChar char="●"/>
              <a:defRPr sz="8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제목 슬라이드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그룹 1"/>
          <p:cNvGrpSpPr/>
          <p:nvPr/>
        </p:nvGrpSpPr>
        <p:grpSpPr>
          <a:xfrm>
            <a:off x="-263323" y="-1555595"/>
            <a:ext cx="10414673" cy="8413607"/>
            <a:chOff x="-1" y="0"/>
            <a:chExt cx="10414671" cy="8413606"/>
          </a:xfrm>
        </p:grpSpPr>
        <p:pic>
          <p:nvPicPr>
            <p:cNvPr id="39" name="그림 2" descr="그림 2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256353" y="1555578"/>
              <a:ext cx="9912985" cy="685802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0" name="직사각형 3"/>
            <p:cNvSpPr/>
            <p:nvPr/>
          </p:nvSpPr>
          <p:spPr>
            <a:xfrm>
              <a:off x="256354" y="6292404"/>
              <a:ext cx="9906036" cy="2121196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Arial"/>
                </a:defRPr>
              </a:pPr>
            </a:p>
          </p:txBody>
        </p:sp>
        <p:sp>
          <p:nvSpPr>
            <p:cNvPr id="41" name="이등변 삼각형 4"/>
            <p:cNvSpPr/>
            <p:nvPr/>
          </p:nvSpPr>
          <p:spPr>
            <a:xfrm rot="10251606">
              <a:off x="335468" y="5486823"/>
              <a:ext cx="10013978" cy="16216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508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FFFFFF"/>
            </a:solidFill>
            <a:ln w="2540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Arial"/>
                </a:defRPr>
              </a:pPr>
            </a:p>
          </p:txBody>
        </p:sp>
        <p:sp>
          <p:nvSpPr>
            <p:cNvPr id="42" name="이등변 삼각형 5"/>
            <p:cNvSpPr/>
            <p:nvPr/>
          </p:nvSpPr>
          <p:spPr>
            <a:xfrm rot="21051606">
              <a:off x="61080" y="788298"/>
              <a:ext cx="10051030" cy="15724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561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FFFFFF"/>
            </a:solidFill>
            <a:ln w="2540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Arial"/>
                </a:defRPr>
              </a:pPr>
            </a:p>
          </p:txBody>
        </p:sp>
        <p:pic>
          <p:nvPicPr>
            <p:cNvPr id="43" name="그림 6" descr="그림 6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8862759" y="8078362"/>
              <a:ext cx="1230700" cy="26516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4" name="그림 7" descr="그림 7"/>
            <p:cNvPicPr>
              <a:picLocks noChangeAspect="1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339177" y="8073538"/>
              <a:ext cx="861012" cy="26998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46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47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.xml"/><Relationship Id="rId6" Type="http://schemas.openxmlformats.org/officeDocument/2006/relationships/slideLayout" Target="../slideLayouts/slideLayout2.xml"/><Relationship Id="rId7" Type="http://schemas.openxmlformats.org/officeDocument/2006/relationships/slideLayout" Target="../slideLayouts/slideLayout3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10"/>
          <p:cNvGrpSpPr/>
          <p:nvPr/>
        </p:nvGrpSpPr>
        <p:grpSpPr>
          <a:xfrm>
            <a:off x="-263323" y="-1555595"/>
            <a:ext cx="10414673" cy="8413607"/>
            <a:chOff x="-1" y="0"/>
            <a:chExt cx="10414671" cy="8413606"/>
          </a:xfrm>
        </p:grpSpPr>
        <p:pic>
          <p:nvPicPr>
            <p:cNvPr id="2" name="그림 2" descr="그림 2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256353" y="1555578"/>
              <a:ext cx="9912985" cy="685802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" name="직사각형 3"/>
            <p:cNvSpPr/>
            <p:nvPr/>
          </p:nvSpPr>
          <p:spPr>
            <a:xfrm>
              <a:off x="256354" y="6292404"/>
              <a:ext cx="9906036" cy="2121196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Arial"/>
                </a:defRPr>
              </a:pPr>
            </a:p>
          </p:txBody>
        </p:sp>
        <p:sp>
          <p:nvSpPr>
            <p:cNvPr id="4" name="이등변 삼각형 4"/>
            <p:cNvSpPr/>
            <p:nvPr/>
          </p:nvSpPr>
          <p:spPr>
            <a:xfrm rot="10251606">
              <a:off x="335468" y="5486823"/>
              <a:ext cx="10013978" cy="16216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508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FFFFFF"/>
            </a:solidFill>
            <a:ln w="2540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Arial"/>
                </a:defRPr>
              </a:pPr>
            </a:p>
          </p:txBody>
        </p:sp>
        <p:sp>
          <p:nvSpPr>
            <p:cNvPr id="5" name="이등변 삼각형 5"/>
            <p:cNvSpPr/>
            <p:nvPr/>
          </p:nvSpPr>
          <p:spPr>
            <a:xfrm rot="21051606">
              <a:off x="61080" y="788298"/>
              <a:ext cx="10051030" cy="15724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561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FFFFFF"/>
            </a:solidFill>
            <a:ln w="2540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Arial"/>
                </a:defRPr>
              </a:pPr>
            </a:p>
          </p:txBody>
        </p:sp>
        <p:pic>
          <p:nvPicPr>
            <p:cNvPr id="6" name="그림 7" descr="그림 7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8862759" y="8078362"/>
              <a:ext cx="1230700" cy="26516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그림 8" descr="그림 8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339177" y="8073538"/>
              <a:ext cx="861012" cy="26998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9" name="제목 텍스트"/>
          <p:cNvSpPr txBox="1"/>
          <p:nvPr>
            <p:ph type="title"/>
          </p:nvPr>
        </p:nvSpPr>
        <p:spPr>
          <a:xfrm>
            <a:off x="1071422" y="4545365"/>
            <a:ext cx="8420101" cy="1201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normAutofit fontScale="100000" lnSpcReduction="0"/>
          </a:bodyPr>
          <a:lstStyle/>
          <a:p>
            <a:pPr/>
            <a:r>
              <a:t>제목 텍스트</a:t>
            </a:r>
          </a:p>
        </p:txBody>
      </p:sp>
      <p:sp>
        <p:nvSpPr>
          <p:cNvPr id="10" name="본문 첫 번째 줄…"/>
          <p:cNvSpPr txBox="1"/>
          <p:nvPr>
            <p:ph type="body" idx="1"/>
          </p:nvPr>
        </p:nvSpPr>
        <p:spPr>
          <a:xfrm>
            <a:off x="5529130" y="2438400"/>
            <a:ext cx="3879851" cy="396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normAutofit fontScale="100000" lnSpcReduction="0"/>
          </a:bodyPr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11" name="슬라이드 번호"/>
          <p:cNvSpPr txBox="1"/>
          <p:nvPr>
            <p:ph type="sldNum" sz="quarter" idx="2"/>
          </p:nvPr>
        </p:nvSpPr>
        <p:spPr>
          <a:xfrm>
            <a:off x="6772334" y="6224244"/>
            <a:ext cx="326969" cy="264213"/>
          </a:xfrm>
          <a:prstGeom prst="rect">
            <a:avLst/>
          </a:prstGeom>
          <a:ln w="12700">
            <a:miter lim="400000"/>
          </a:ln>
        </p:spPr>
        <p:txBody>
          <a:bodyPr wrap="none" lIns="45699" tIns="45699" rIns="45699" bIns="45699" anchor="ctr">
            <a:spAutoFit/>
          </a:bodyPr>
          <a:lstStyle>
            <a:lvl1pPr indent="-76200" algn="r">
              <a:lnSpc>
                <a:spcPct val="120000"/>
              </a:lnSpc>
              <a:buClr>
                <a:srgbClr val="888888"/>
              </a:buClr>
              <a:buSzPts val="1200"/>
              <a:buFont typeface="Arial"/>
              <a:buChar char="•"/>
              <a:defRPr sz="1200">
                <a:solidFill>
                  <a:srgbClr val="888888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5"/>
    <p:sldLayoutId id="2147483650" r:id="rId6"/>
    <p:sldLayoutId id="2147483651" r:id="rId7"/>
  </p:sldLayoutIdLst>
  <p:transition xmlns:p14="http://schemas.microsoft.com/office/powerpoint/2010/main" spd="med" advClick="1"/>
  <p:txStyles>
    <p:titleStyle>
      <a:lvl1pPr marL="0" marR="0" indent="0" algn="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800" u="none">
          <a:solidFill>
            <a:srgbClr val="434F8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800" u="none">
          <a:solidFill>
            <a:srgbClr val="434F8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800" u="none">
          <a:solidFill>
            <a:srgbClr val="434F8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800" u="none">
          <a:solidFill>
            <a:srgbClr val="434F8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800" u="none">
          <a:solidFill>
            <a:srgbClr val="434F8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800" u="none">
          <a:solidFill>
            <a:srgbClr val="434F8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800" u="none">
          <a:solidFill>
            <a:srgbClr val="434F8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800" u="none">
          <a:solidFill>
            <a:srgbClr val="434F8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800" u="none">
          <a:solidFill>
            <a:srgbClr val="434F81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457200" marR="0" indent="-406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977900" marR="0" indent="-4445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1513838" marR="0" indent="-497838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20193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24765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29337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33909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38481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43053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-76200" algn="r" defTabSz="914400" rtl="0" latinLnBrk="0">
        <a:lnSpc>
          <a:spcPct val="120000"/>
        </a:lnSpc>
        <a:spcBef>
          <a:spcPts val="0"/>
        </a:spcBef>
        <a:spcAft>
          <a:spcPts val="0"/>
        </a:spcAft>
        <a:buClr>
          <a:srgbClr val="888888"/>
        </a:buClr>
        <a:buSzPts val="1200"/>
        <a:buFont typeface="Arial"/>
        <a:buChar char="•"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20000"/>
        </a:lnSpc>
        <a:spcBef>
          <a:spcPts val="0"/>
        </a:spcBef>
        <a:spcAft>
          <a:spcPts val="0"/>
        </a:spcAft>
        <a:buClr>
          <a:srgbClr val="888888"/>
        </a:buClr>
        <a:buSzTx/>
        <a:buFont typeface="Arial"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20000"/>
        </a:lnSpc>
        <a:spcBef>
          <a:spcPts val="0"/>
        </a:spcBef>
        <a:spcAft>
          <a:spcPts val="0"/>
        </a:spcAft>
        <a:buClr>
          <a:srgbClr val="888888"/>
        </a:buClr>
        <a:buSzTx/>
        <a:buFont typeface="Arial"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20000"/>
        </a:lnSpc>
        <a:spcBef>
          <a:spcPts val="0"/>
        </a:spcBef>
        <a:spcAft>
          <a:spcPts val="0"/>
        </a:spcAft>
        <a:buClr>
          <a:srgbClr val="888888"/>
        </a:buClr>
        <a:buSzTx/>
        <a:buFont typeface="Arial"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20000"/>
        </a:lnSpc>
        <a:spcBef>
          <a:spcPts val="0"/>
        </a:spcBef>
        <a:spcAft>
          <a:spcPts val="0"/>
        </a:spcAft>
        <a:buClr>
          <a:srgbClr val="888888"/>
        </a:buClr>
        <a:buSzTx/>
        <a:buFont typeface="Arial"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20000"/>
        </a:lnSpc>
        <a:spcBef>
          <a:spcPts val="0"/>
        </a:spcBef>
        <a:spcAft>
          <a:spcPts val="0"/>
        </a:spcAft>
        <a:buClr>
          <a:srgbClr val="888888"/>
        </a:buClr>
        <a:buSzTx/>
        <a:buFont typeface="Arial"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20000"/>
        </a:lnSpc>
        <a:spcBef>
          <a:spcPts val="0"/>
        </a:spcBef>
        <a:spcAft>
          <a:spcPts val="0"/>
        </a:spcAft>
        <a:buClr>
          <a:srgbClr val="888888"/>
        </a:buClr>
        <a:buSzTx/>
        <a:buFont typeface="Arial"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20000"/>
        </a:lnSpc>
        <a:spcBef>
          <a:spcPts val="0"/>
        </a:spcBef>
        <a:spcAft>
          <a:spcPts val="0"/>
        </a:spcAft>
        <a:buClr>
          <a:srgbClr val="888888"/>
        </a:buClr>
        <a:buSzTx/>
        <a:buFont typeface="Arial"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20000"/>
        </a:lnSpc>
        <a:spcBef>
          <a:spcPts val="0"/>
        </a:spcBef>
        <a:spcAft>
          <a:spcPts val="0"/>
        </a:spcAft>
        <a:buClr>
          <a:srgbClr val="888888"/>
        </a:buClr>
        <a:buSzTx/>
        <a:buFont typeface="Arial"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ACACIANh/company-rag" TargetMode="Externa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47;g25ac4c120b4_0_26"/>
          <p:cNvSpPr txBox="1"/>
          <p:nvPr>
            <p:ph type="title"/>
          </p:nvPr>
        </p:nvSpPr>
        <p:spPr>
          <a:xfrm>
            <a:off x="1249222" y="4350658"/>
            <a:ext cx="8420101" cy="1201814"/>
          </a:xfrm>
          <a:prstGeom prst="rect">
            <a:avLst/>
          </a:prstGeom>
        </p:spPr>
        <p:txBody>
          <a:bodyPr/>
          <a:lstStyle/>
          <a:p>
            <a:pPr defTabSz="841247">
              <a:defRPr b="1" sz="3600">
                <a:latin typeface="+mj-lt"/>
                <a:ea typeface="+mj-ea"/>
                <a:cs typeface="+mj-cs"/>
                <a:sym typeface="Helvetica"/>
              </a:defRPr>
            </a:pPr>
            <a:r>
              <a:t>접근제어 에이전트</a:t>
            </a:r>
          </a:p>
          <a:p>
            <a:pPr defTabSz="841247">
              <a:defRPr b="1" sz="3600">
                <a:latin typeface="+mj-lt"/>
                <a:ea typeface="+mj-ea"/>
                <a:cs typeface="+mj-cs"/>
                <a:sym typeface="Helvetica"/>
              </a:defRPr>
            </a:pPr>
            <a:r>
              <a:t>수행 기획안</a:t>
            </a:r>
          </a:p>
        </p:txBody>
      </p:sp>
      <p:sp>
        <p:nvSpPr>
          <p:cNvPr id="57" name="Google Shape;48;g25ac4c120b4_0_26"/>
          <p:cNvSpPr txBox="1"/>
          <p:nvPr/>
        </p:nvSpPr>
        <p:spPr>
          <a:xfrm>
            <a:off x="4208648" y="5710840"/>
            <a:ext cx="5237153" cy="6836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normAutofit fontScale="100000" lnSpcReduction="0"/>
          </a:bodyPr>
          <a:lstStyle>
            <a:lvl1pPr algn="r">
              <a:lnSpc>
                <a:spcPct val="70000"/>
              </a:lnSpc>
              <a:defRPr b="1" sz="2300">
                <a:solidFill>
                  <a:srgbClr val="7F7F7F"/>
                </a:solidFill>
              </a:defRPr>
            </a:lvl1pPr>
          </a:lstStyle>
          <a:p>
            <a:pPr/>
            <a:r>
              <a:t>아카시아팀 (Friday)</a:t>
            </a:r>
          </a:p>
        </p:txBody>
      </p:sp>
      <p:grpSp>
        <p:nvGrpSpPr>
          <p:cNvPr id="60" name="Google Shape;55;p1"/>
          <p:cNvGrpSpPr/>
          <p:nvPr/>
        </p:nvGrpSpPr>
        <p:grpSpPr>
          <a:xfrm>
            <a:off x="93989" y="85028"/>
            <a:ext cx="2712723" cy="290967"/>
            <a:chOff x="-1" y="-1"/>
            <a:chExt cx="2712721" cy="290965"/>
          </a:xfrm>
        </p:grpSpPr>
        <p:sp>
          <p:nvSpPr>
            <p:cNvPr id="58" name="직사각형"/>
            <p:cNvSpPr/>
            <p:nvPr/>
          </p:nvSpPr>
          <p:spPr>
            <a:xfrm>
              <a:off x="-2" y="-2"/>
              <a:ext cx="2712723" cy="290967"/>
            </a:xfrm>
            <a:prstGeom prst="rect">
              <a:avLst/>
            </a:prstGeom>
            <a:solidFill>
              <a:srgbClr val="1F4E79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n-lt"/>
                  <a:ea typeface="+mn-ea"/>
                  <a:cs typeface="+mn-cs"/>
                  <a:sym typeface="Arial"/>
                </a:defRPr>
              </a:pPr>
            </a:p>
          </p:txBody>
        </p:sp>
        <p:sp>
          <p:nvSpPr>
            <p:cNvPr id="59" name="AI Agent 기반 실무형 개발자 양성과정"/>
            <p:cNvSpPr txBox="1"/>
            <p:nvPr/>
          </p:nvSpPr>
          <p:spPr>
            <a:xfrm>
              <a:off x="45726" y="-2"/>
              <a:ext cx="2621272" cy="29096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normAutofit fontScale="100000" lnSpcReduction="0"/>
            </a:bodyPr>
            <a:lstStyle>
              <a:lvl1pPr algn="ctr">
                <a:defRPr b="1"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AI Agent 기반 실무형 개발자 양성과정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75;g25ac4c120b4_0_13"/>
          <p:cNvSpPr txBox="1"/>
          <p:nvPr>
            <p:ph type="body" sz="quarter" idx="1"/>
          </p:nvPr>
        </p:nvSpPr>
        <p:spPr>
          <a:xfrm>
            <a:off x="131481" y="151640"/>
            <a:ext cx="627622" cy="595500"/>
          </a:xfrm>
          <a:prstGeom prst="rect">
            <a:avLst/>
          </a:prstGeom>
        </p:spPr>
        <p:txBody>
          <a:bodyPr/>
          <a:lstStyle>
            <a:lvl1pPr indent="0">
              <a:spcBef>
                <a:spcPts val="0"/>
              </a:spcBef>
            </a:lvl1pPr>
          </a:lstStyle>
          <a:p>
            <a:pPr/>
            <a:r>
              <a:t>01</a:t>
            </a:r>
          </a:p>
        </p:txBody>
      </p:sp>
      <p:sp>
        <p:nvSpPr>
          <p:cNvPr id="63" name="Google Shape;76;g25ac4c120b4_0_13"/>
          <p:cNvSpPr txBox="1"/>
          <p:nvPr>
            <p:ph type="title"/>
          </p:nvPr>
        </p:nvSpPr>
        <p:spPr>
          <a:xfrm>
            <a:off x="1016508" y="306965"/>
            <a:ext cx="6131125" cy="440103"/>
          </a:xfrm>
          <a:prstGeom prst="rect">
            <a:avLst/>
          </a:prstGeom>
        </p:spPr>
        <p:txBody>
          <a:bodyPr/>
          <a:lstStyle>
            <a:lvl1pPr defTabSz="649223">
              <a:defRPr b="1" sz="22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프로젝트 개요</a:t>
            </a:r>
          </a:p>
        </p:txBody>
      </p:sp>
      <p:graphicFrame>
        <p:nvGraphicFramePr>
          <p:cNvPr id="64" name="Google Shape;77;g25ac4c120b4_0_13"/>
          <p:cNvGraphicFramePr/>
          <p:nvPr/>
        </p:nvGraphicFramePr>
        <p:xfrm>
          <a:off x="360030" y="1092699"/>
          <a:ext cx="9185927" cy="5114276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1290050"/>
                <a:gridCol w="7895874"/>
              </a:tblGrid>
              <a:tr h="223778">
                <a:tc>
                  <a:txBody>
                    <a:bodyPr/>
                    <a:lstStyle/>
                    <a:p>
                      <a:pPr marL="35997" indent="-35997"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항목</a:t>
                      </a:r>
                    </a:p>
                  </a:txBody>
                  <a:tcPr marL="36000" marR="36000" marT="36000" marB="36000" anchor="ctr" anchorCtr="0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FFFFFF"/>
                      </a:solidFill>
                    </a:lnR>
                    <a:lnT w="19050">
                      <a:solidFill>
                        <a:srgbClr val="000000"/>
                      </a:solidFill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35997" indent="-35997"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내용</a:t>
                      </a:r>
                    </a:p>
                  </a:txBody>
                  <a:tcPr marL="36000" marR="36000" marT="36000" marB="36000" anchor="ctr" anchorCtr="0" horzOverflow="overflow">
                    <a:lnL>
                      <a:solidFill>
                        <a:srgbClr val="FFFFFF"/>
                      </a:solidFill>
                    </a:lnL>
                    <a:lnR>
                      <a:solidFill>
                        <a:srgbClr val="FFFFFF"/>
                      </a:solidFill>
                    </a:lnR>
                    <a:lnT w="19050">
                      <a:solidFill>
                        <a:srgbClr val="000000"/>
                      </a:solidFill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0070C0"/>
                    </a:solidFill>
                  </a:tcPr>
                </a:tc>
              </a:tr>
              <a:tr h="342764">
                <a:tc>
                  <a:txBody>
                    <a:bodyPr/>
                    <a:lstStyle/>
                    <a:p>
                      <a:pPr marL="35997" indent="-35997"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  <a:defRPr sz="1800"/>
                      </a:pPr>
                      <a:r>
                        <a:rPr b="1" sz="12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프로젝트명</a:t>
                      </a:r>
                    </a:p>
                  </a:txBody>
                  <a:tcPr marL="36000" marR="36000" marT="36000" marB="36000" anchor="ctr" anchorCtr="0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3F3F3F"/>
                      </a:solidFill>
                    </a:lnR>
                    <a:lnT w="19050">
                      <a:solidFill>
                        <a:srgbClr val="000000"/>
                      </a:solidFill>
                    </a:lnT>
                    <a:lnB>
                      <a:solidFill>
                        <a:srgbClr val="3F3F3F"/>
                      </a:solidFill>
                    </a:lnB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  <a:defRPr sz="1800"/>
                      </a:pPr>
                      <a:r>
                        <a:rPr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접근제어 에이전트 (Friday)</a:t>
                      </a:r>
                    </a:p>
                  </a:txBody>
                  <a:tcPr marL="36000" marR="36000" marT="36000" marB="36000" anchor="ctr" anchorCtr="0" horzOverflow="overflow">
                    <a:lnL>
                      <a:solidFill>
                        <a:srgbClr val="3F3F3F"/>
                      </a:solidFill>
                    </a:lnL>
                    <a:lnR>
                      <a:solidFill>
                        <a:srgbClr val="3F3F3F"/>
                      </a:solidFill>
                    </a:lnR>
                    <a:lnT w="19050">
                      <a:solidFill>
                        <a:srgbClr val="000000"/>
                      </a:solidFill>
                    </a:lnT>
                    <a:lnB>
                      <a:solidFill>
                        <a:srgbClr val="3F3F3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2900">
                <a:tc>
                  <a:txBody>
                    <a:bodyPr/>
                    <a:lstStyle/>
                    <a:p>
                      <a:pPr marL="35997" indent="-35997"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  <a:defRPr sz="1800"/>
                      </a:pPr>
                      <a:r>
                        <a:rPr b="1" sz="12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팀 명</a:t>
                      </a:r>
                    </a:p>
                  </a:txBody>
                  <a:tcPr marL="36000" marR="36000" marT="36000" marB="36000" anchor="ctr" anchorCtr="0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3F3F3F"/>
                      </a:solidFill>
                    </a:lnR>
                    <a:lnT>
                      <a:solidFill>
                        <a:srgbClr val="3F3F3F"/>
                      </a:solidFill>
                    </a:lnT>
                    <a:lnB>
                      <a:solidFill>
                        <a:srgbClr val="3F3F3F"/>
                      </a:solidFill>
                    </a:lnB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  <a:defRPr sz="1800"/>
                      </a:pPr>
                      <a:r>
                        <a:rPr sz="11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아카시아팀</a:t>
                      </a:r>
                    </a:p>
                  </a:txBody>
                  <a:tcPr marL="36000" marR="36000" marT="36000" marB="36000" anchor="ctr" anchorCtr="0" horzOverflow="overflow">
                    <a:lnL>
                      <a:solidFill>
                        <a:srgbClr val="3F3F3F"/>
                      </a:solidFill>
                    </a:lnL>
                    <a:lnR>
                      <a:solidFill>
                        <a:srgbClr val="3F3F3F"/>
                      </a:solidFill>
                    </a:lnR>
                    <a:lnT>
                      <a:solidFill>
                        <a:srgbClr val="3F3F3F"/>
                      </a:solidFill>
                    </a:lnT>
                    <a:lnB>
                      <a:solidFill>
                        <a:srgbClr val="3F3F3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9126">
                <a:tc>
                  <a:txBody>
                    <a:bodyPr/>
                    <a:lstStyle/>
                    <a:p>
                      <a:pPr marL="35997" indent="-35997"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  <a:defRPr sz="1800"/>
                      </a:pPr>
                      <a:r>
                        <a:rPr b="1" sz="12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진행 일시</a:t>
                      </a:r>
                    </a:p>
                  </a:txBody>
                  <a:tcPr marL="36000" marR="36000" marT="36000" marB="36000" anchor="ctr" anchorCtr="0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3F3F3F"/>
                      </a:solidFill>
                    </a:lnR>
                    <a:lnT>
                      <a:solidFill>
                        <a:srgbClr val="3F3F3F"/>
                      </a:solidFill>
                    </a:lnT>
                    <a:lnB>
                      <a:solidFill>
                        <a:srgbClr val="3F3F3F"/>
                      </a:solidFill>
                    </a:lnB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  <a:defRPr sz="1800"/>
                      </a:pPr>
                      <a:r>
                        <a:rPr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2026-05-21 ~ 2026-06-08</a:t>
                      </a:r>
                    </a:p>
                  </a:txBody>
                  <a:tcPr marL="36000" marR="36000" marT="36000" marB="36000" anchor="ctr" anchorCtr="0" horzOverflow="overflow">
                    <a:lnL>
                      <a:solidFill>
                        <a:srgbClr val="3F3F3F"/>
                      </a:solidFill>
                    </a:lnL>
                    <a:lnR>
                      <a:solidFill>
                        <a:srgbClr val="3F3F3F"/>
                      </a:solidFill>
                    </a:lnR>
                    <a:lnT>
                      <a:solidFill>
                        <a:srgbClr val="3F3F3F"/>
                      </a:solidFill>
                    </a:lnT>
                    <a:lnB>
                      <a:solidFill>
                        <a:srgbClr val="3F3F3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17123">
                <a:tc>
                  <a:txBody>
                    <a:bodyPr/>
                    <a:lstStyle/>
                    <a:p>
                      <a:pPr marL="35997" indent="-35997"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  <a:defRPr sz="1800"/>
                      </a:pPr>
                      <a:r>
                        <a:rPr b="1" sz="12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프로젝트 목표</a:t>
                      </a:r>
                    </a:p>
                  </a:txBody>
                  <a:tcPr marL="36000" marR="36000" marT="36000" marB="36000" anchor="ctr" anchorCtr="0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3F3F3F"/>
                      </a:solidFill>
                    </a:lnR>
                    <a:lnT>
                      <a:solidFill>
                        <a:srgbClr val="3F3F3F"/>
                      </a:solidFill>
                    </a:lnT>
                    <a:lnB>
                      <a:solidFill>
                        <a:srgbClr val="3F3F3F"/>
                      </a:solidFill>
                    </a:lnB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  <a:defRPr sz="1800"/>
                      </a:pPr>
                      <a:r>
                        <a:rPr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접근 제어를 통한 사내문서 RAG 및 에이전트 환경 구성</a:t>
                      </a:r>
                    </a:p>
                  </a:txBody>
                  <a:tcPr marL="36000" marR="36000" marT="36000" marB="36000" anchor="ctr" anchorCtr="0" horzOverflow="overflow">
                    <a:lnL>
                      <a:solidFill>
                        <a:srgbClr val="3F3F3F"/>
                      </a:solidFill>
                    </a:lnL>
                    <a:lnR>
                      <a:solidFill>
                        <a:srgbClr val="3F3F3F"/>
                      </a:solidFill>
                    </a:lnR>
                    <a:lnT>
                      <a:solidFill>
                        <a:srgbClr val="3F3F3F"/>
                      </a:solidFill>
                    </a:lnT>
                    <a:lnB>
                      <a:solidFill>
                        <a:srgbClr val="3F3F3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52969">
                <a:tc>
                  <a:txBody>
                    <a:bodyPr/>
                    <a:lstStyle/>
                    <a:p>
                      <a:pPr marL="35997" indent="-35997"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  <a:defRPr sz="1800"/>
                      </a:pPr>
                      <a:r>
                        <a:rPr b="1" sz="12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프로젝트 개요</a:t>
                      </a:r>
                    </a:p>
                  </a:txBody>
                  <a:tcPr marL="36000" marR="36000" marT="36000" marB="36000" anchor="ctr" anchorCtr="0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3F3F3F"/>
                      </a:solidFill>
                    </a:lnR>
                    <a:lnT>
                      <a:solidFill>
                        <a:srgbClr val="3F3F3F"/>
                      </a:solidFill>
                    </a:lnT>
                    <a:lnB>
                      <a:solidFill>
                        <a:srgbClr val="3F3F3F"/>
                      </a:solidFill>
                    </a:lnB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  <a:defRPr sz="1800"/>
                      </a:pPr>
                      <a:r>
                        <a:rPr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신뢰·보안 문제로 막혀 있던 사내 AI 에이전트에 출처·권한·안전을 더해 실제 도입을 가능하게 한다.</a:t>
                      </a:r>
                    </a:p>
                  </a:txBody>
                  <a:tcPr marL="36000" marR="36000" marT="36000" marB="36000" anchor="ctr" anchorCtr="0" horzOverflow="overflow">
                    <a:lnL>
                      <a:solidFill>
                        <a:srgbClr val="3F3F3F"/>
                      </a:solidFill>
                    </a:lnL>
                    <a:lnR>
                      <a:solidFill>
                        <a:srgbClr val="3F3F3F"/>
                      </a:solidFill>
                    </a:lnR>
                    <a:lnT>
                      <a:solidFill>
                        <a:srgbClr val="3F3F3F"/>
                      </a:solidFill>
                    </a:lnT>
                    <a:lnB>
                      <a:solidFill>
                        <a:srgbClr val="3F3F3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35615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  <a:defRPr sz="1800"/>
                      </a:pPr>
                      <a:r>
                        <a:rPr b="1" sz="12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타깃 사용자</a:t>
                      </a:r>
                    </a:p>
                  </a:txBody>
                  <a:tcPr marL="36000" marR="36000" marT="36000" marB="36000" anchor="ctr" anchorCtr="0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3F3F3F"/>
                      </a:solidFill>
                    </a:lnR>
                    <a:lnT>
                      <a:solidFill>
                        <a:srgbClr val="3F3F3F"/>
                      </a:solidFill>
                    </a:lnT>
                    <a:lnB>
                      <a:solidFill>
                        <a:srgbClr val="3F3F3F"/>
                      </a:solidFill>
                    </a:lnB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  <a:defRPr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defRPr>
                      </a:pPr>
                      <a:r>
                        <a:t>주 사용자:</a:t>
                      </a:r>
                    </a:p>
                    <a:p>
                      <a:pPr indent="0" algn="l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  <a:defRPr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defRPr>
                      </a:pPr>
                      <a:r>
                        <a:t>일반 직원 — 사내문서 정보 및 DB 쿼리 조회결과를 매번 인사/IT에 문의.</a:t>
                      </a:r>
                    </a:p>
                    <a:p>
                      <a:pPr indent="0" algn="l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  <a:defRPr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defRPr>
                      </a:pPr>
                    </a:p>
                    <a:p>
                      <a:pPr indent="0" algn="l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  <a:defRPr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defRPr>
                      </a:pPr>
                      <a:r>
                        <a:t>사용 시나리오:</a:t>
                      </a:r>
                    </a:p>
                    <a:p>
                      <a:pPr indent="0" algn="l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  <a:defRPr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defRPr>
                      </a:pPr>
                      <a:r>
                        <a:t>직원이 질문을 하면 에이전트가 라우팅·권한확인·문서검색·환각검사를 수행하고 결과로 출처가 달린 답변(권한 밖이면 접근 차단 안내)을 받는다.</a:t>
                      </a:r>
                    </a:p>
                  </a:txBody>
                  <a:tcPr marL="36000" marR="36000" marT="36000" marB="36000" anchor="ctr" anchorCtr="0" horzOverflow="overflow">
                    <a:lnL>
                      <a:solidFill>
                        <a:srgbClr val="3F3F3F"/>
                      </a:solidFill>
                    </a:lnL>
                    <a:lnR>
                      <a:solidFill>
                        <a:srgbClr val="3F3F3F"/>
                      </a:solidFill>
                    </a:lnR>
                    <a:lnT>
                      <a:solidFill>
                        <a:srgbClr val="3F3F3F"/>
                      </a:solidFill>
                    </a:lnT>
                    <a:lnB>
                      <a:solidFill>
                        <a:srgbClr val="3F3F3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82;g25ac4c120b4_0_19"/>
          <p:cNvSpPr txBox="1"/>
          <p:nvPr>
            <p:ph type="body" sz="quarter" idx="1"/>
          </p:nvPr>
        </p:nvSpPr>
        <p:spPr>
          <a:xfrm>
            <a:off x="131481" y="151640"/>
            <a:ext cx="627622" cy="595500"/>
          </a:xfrm>
          <a:prstGeom prst="rect">
            <a:avLst/>
          </a:prstGeom>
        </p:spPr>
        <p:txBody>
          <a:bodyPr/>
          <a:lstStyle>
            <a:lvl1pPr indent="0">
              <a:spcBef>
                <a:spcPts val="0"/>
              </a:spcBef>
            </a:lvl1pPr>
          </a:lstStyle>
          <a:p>
            <a:pPr/>
            <a:r>
              <a:t>02</a:t>
            </a:r>
          </a:p>
        </p:txBody>
      </p:sp>
      <p:sp>
        <p:nvSpPr>
          <p:cNvPr id="67" name="Google Shape;83;g25ac4c120b4_0_19"/>
          <p:cNvSpPr txBox="1"/>
          <p:nvPr>
            <p:ph type="title"/>
          </p:nvPr>
        </p:nvSpPr>
        <p:spPr>
          <a:xfrm>
            <a:off x="1016508" y="306965"/>
            <a:ext cx="6131125" cy="440103"/>
          </a:xfrm>
          <a:prstGeom prst="rect">
            <a:avLst/>
          </a:prstGeom>
        </p:spPr>
        <p:txBody>
          <a:bodyPr/>
          <a:lstStyle>
            <a:lvl1pPr defTabSz="740662">
              <a:defRPr b="1" sz="22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수행 계획서 요약</a:t>
            </a:r>
          </a:p>
        </p:txBody>
      </p:sp>
      <p:graphicFrame>
        <p:nvGraphicFramePr>
          <p:cNvPr id="68" name="표 1"/>
          <p:cNvGraphicFramePr/>
          <p:nvPr/>
        </p:nvGraphicFramePr>
        <p:xfrm>
          <a:off x="272511" y="1088026"/>
          <a:ext cx="9403269" cy="5378395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1230324"/>
                <a:gridCol w="1181997"/>
                <a:gridCol w="2756170"/>
                <a:gridCol w="1322962"/>
                <a:gridCol w="2911813"/>
              </a:tblGrid>
              <a:tr h="338224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항목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0070C0"/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내용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0070C0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38224">
                <a:tc rowSpan="4"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  <a:defRPr sz="1800"/>
                      </a:pPr>
                      <a:r>
                        <a:rPr b="1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솔루션 정의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  <a:defRPr sz="1800"/>
                      </a:pPr>
                      <a:r>
                        <a:rPr b="1" sz="11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입력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EEBF7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  <a:defRPr sz="1800"/>
                      </a:pPr>
                      <a:r>
                        <a:rPr sz="9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자연어 질의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356470">
                <a:tc vMerge="1"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  <a:defRPr sz="1800"/>
                      </a:pPr>
                      <a:r>
                        <a:rPr b="1" sz="11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처리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EEBF7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  <a:defRPr sz="1800"/>
                      </a:pPr>
                      <a:r>
                        <a:rPr sz="9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라우팅 → (다중쿼리) → 권한 pre-filter → 검색 → 문서평가 → (도구 시 사유 승인) → 생성 → 환각검사 → 재시도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317456">
                <a:tc vMerge="1"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  <a:defRPr sz="1800"/>
                      </a:pPr>
                      <a:r>
                        <a:rPr b="1" sz="11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출력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EEBF7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  <a:defRPr sz="1800"/>
                      </a:pPr>
                      <a:r>
                        <a:rPr sz="9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출처 인용 답변(SSE 스트리밍). 권한 밖이면 접근 차단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91830">
                <a:tc vMerge="1"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  <a:defRPr sz="1800"/>
                      </a:pPr>
                      <a:r>
                        <a:rPr b="1" sz="11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핵심기능(3가지)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EEB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50393" indent="-150393" algn="l">
                        <a:lnSpc>
                          <a:spcPct val="150000"/>
                        </a:lnSpc>
                        <a:buClrTx/>
                        <a:buSzPct val="100000"/>
                        <a:buFontTx/>
                        <a:buAutoNum type="arabicParenR" startAt="1"/>
                        <a:defRPr sz="900">
                          <a:latin typeface="Malgun Gothic"/>
                          <a:ea typeface="Malgun Gothic"/>
                          <a:cs typeface="Malgun Gothic"/>
                          <a:sym typeface="Malgun Gothic"/>
                        </a:defRPr>
                      </a:pPr>
                      <a:r>
                        <a:t>권한 인식 검색 – FGA pre-filter(폴더·테이블)로 검색 전 차단</a:t>
                      </a:r>
                    </a:p>
                    <a:p>
                      <a:pPr marL="150393" indent="-150393" algn="l">
                        <a:lnSpc>
                          <a:spcPct val="150000"/>
                        </a:lnSpc>
                        <a:buClrTx/>
                        <a:buSzPct val="100000"/>
                        <a:buFontTx/>
                        <a:buAutoNum type="arabicParenR" startAt="1"/>
                        <a:defRPr sz="900">
                          <a:latin typeface="Malgun Gothic"/>
                          <a:ea typeface="Malgun Gothic"/>
                          <a:cs typeface="Malgun Gothic"/>
                          <a:sym typeface="Malgun Gothic"/>
                        </a:defRPr>
                      </a:pPr>
                      <a:r>
                        <a:t>답변 신뢰성(Self-RAG) – 문서평가+환각검사 재시도</a:t>
                      </a:r>
                    </a:p>
                    <a:p>
                      <a:pPr indent="0" algn="l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  <a:defRPr sz="900">
                          <a:latin typeface="Malgun Gothic"/>
                          <a:ea typeface="Malgun Gothic"/>
                          <a:cs typeface="Malgun Gothic"/>
                          <a:sym typeface="Malgun Gothic"/>
                        </a:defRPr>
                      </a:pPr>
                      <a:r>
                        <a:t>3) 안전한 실행(HITL) – 민감도구 사유 기재 후 본인 승인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350966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  <a:defRPr sz="1800"/>
                      </a:pPr>
                      <a:r>
                        <a:rPr b="1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차별점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EEBF7"/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  <a:defRPr sz="900"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  <a:r>
                        <a:t>권한별 접근제어(폴더·테이블·개인 위임) </a:t>
                      </a:r>
                      <a:r>
                        <a:rPr>
                          <a:latin typeface="+mn-lt"/>
                          <a:ea typeface="+mn-ea"/>
                          <a:cs typeface="+mn-cs"/>
                          <a:sym typeface="Arial"/>
                        </a:rPr>
                        <a:t>· </a:t>
                      </a:r>
                      <a:r>
                        <a:t>민감작업 사유 게이트 통합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24255">
                <a:tc rowSpan="3"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  <a:defRPr b="1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defRPr>
                      </a:pPr>
                      <a:r>
                        <a:t>기술 스택</a:t>
                      </a:r>
                    </a:p>
                    <a:p>
                      <a:pPr indent="0"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  <a:defRPr b="1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defRPr>
                      </a:pPr>
                      <a:r>
                        <a:t>&amp;</a:t>
                      </a:r>
                    </a:p>
                    <a:p>
                      <a:pPr indent="0"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  <a:defRPr b="1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defRPr>
                      </a:pPr>
                      <a:r>
                        <a:t>아키텍처 구상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  <a:defRPr sz="1800"/>
                      </a:pPr>
                      <a:r>
                        <a:rPr b="1" sz="11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LLM / 모델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  <a:defRPr sz="1800"/>
                      </a:pPr>
                      <a:r>
                        <a:rPr sz="9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OpenAI gpt-4.1-mini (교체 가능)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  <a:defRPr sz="1800"/>
                      </a:pPr>
                      <a:r>
                        <a:rPr b="1" sz="11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개발 환경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  <a:defRPr sz="1800"/>
                      </a:pPr>
                      <a:r>
                        <a:rPr sz="9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ClaudeCode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0196">
                <a:tc vMerge="1"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  <a:defRPr sz="1800"/>
                      </a:pPr>
                      <a:r>
                        <a:rPr b="1" sz="11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외부 연동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  <a:defRPr sz="1800"/>
                      </a:pPr>
                      <a:r>
                        <a:rPr sz="9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OpenFGA · PostgreSQL(DB, Cache, pgvector)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  <a:defRPr sz="1800"/>
                      </a:pPr>
                      <a:r>
                        <a:rPr b="1" sz="11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배포 형태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  <a:defRPr sz="1800"/>
                      </a:pPr>
                      <a:r>
                        <a:rPr sz="9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웹(Vite) + FastAPI (SSE)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10774">
                <a:tc vMerge="1">
                  <a:tcPr/>
                </a:tc>
                <a:tc gridSpan="4">
                  <a:txBody>
                    <a:bodyPr/>
                    <a:lstStyle/>
                    <a:p>
                      <a:pPr indent="0">
                        <a:buClrTx/>
                        <a:buSzTx/>
                        <a:buFontTx/>
                        <a:buNone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grpSp>
        <p:nvGrpSpPr>
          <p:cNvPr id="71" name="사각형: 둥근 모서리 2"/>
          <p:cNvGrpSpPr/>
          <p:nvPr/>
        </p:nvGrpSpPr>
        <p:grpSpPr>
          <a:xfrm>
            <a:off x="1609436" y="5113365"/>
            <a:ext cx="1562945" cy="667997"/>
            <a:chOff x="-1" y="-1"/>
            <a:chExt cx="1562944" cy="667995"/>
          </a:xfrm>
        </p:grpSpPr>
        <p:sp>
          <p:nvSpPr>
            <p:cNvPr id="69" name="모서리가 둥근 직사각형"/>
            <p:cNvSpPr/>
            <p:nvPr/>
          </p:nvSpPr>
          <p:spPr>
            <a:xfrm>
              <a:off x="-2" y="-2"/>
              <a:ext cx="1562946" cy="667997"/>
            </a:xfrm>
            <a:prstGeom prst="roundRect">
              <a:avLst>
                <a:gd name="adj" fmla="val 16667"/>
              </a:avLst>
            </a:prstGeom>
            <a:solidFill>
              <a:srgbClr val="F2F2F2"/>
            </a:solidFill>
            <a:ln w="9525" cap="flat">
              <a:solidFill>
                <a:srgbClr val="26415A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lnSpc>
                  <a:spcPct val="150000"/>
                </a:lnSpc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Arial"/>
                </a:defRPr>
              </a:pPr>
            </a:p>
          </p:txBody>
        </p:sp>
        <p:sp>
          <p:nvSpPr>
            <p:cNvPr id="70" name="사용자 입력…"/>
            <p:cNvSpPr/>
            <p:nvPr/>
          </p:nvSpPr>
          <p:spPr>
            <a:xfrm>
              <a:off x="83096" y="44207"/>
              <a:ext cx="1396749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 sz="1100"/>
              </a:pPr>
              <a:r>
                <a:t>입력 · 전처리</a:t>
              </a:r>
            </a:p>
            <a:p>
              <a:pPr algn="ctr">
                <a:defRPr sz="800">
                  <a:solidFill>
                    <a:srgbClr val="A6A6A6"/>
                  </a:solidFill>
                </a:defRPr>
              </a:pPr>
              <a:r>
                <a:t>질의 입력 → load_memory → rewrite_query</a:t>
              </a:r>
            </a:p>
          </p:txBody>
        </p:sp>
      </p:grpSp>
      <p:grpSp>
        <p:nvGrpSpPr>
          <p:cNvPr id="74" name="사각형: 둥근 모서리 3"/>
          <p:cNvGrpSpPr/>
          <p:nvPr/>
        </p:nvGrpSpPr>
        <p:grpSpPr>
          <a:xfrm>
            <a:off x="3746289" y="5113380"/>
            <a:ext cx="1562938" cy="667994"/>
            <a:chOff x="0" y="0"/>
            <a:chExt cx="1562937" cy="667992"/>
          </a:xfrm>
        </p:grpSpPr>
        <p:sp>
          <p:nvSpPr>
            <p:cNvPr id="72" name="모서리가 둥근 직사각형"/>
            <p:cNvSpPr/>
            <p:nvPr/>
          </p:nvSpPr>
          <p:spPr>
            <a:xfrm>
              <a:off x="0" y="0"/>
              <a:ext cx="1562938" cy="667993"/>
            </a:xfrm>
            <a:prstGeom prst="roundRect">
              <a:avLst>
                <a:gd name="adj" fmla="val 16667"/>
              </a:avLst>
            </a:prstGeom>
            <a:solidFill>
              <a:srgbClr val="F2F2F2"/>
            </a:solidFill>
            <a:ln w="9525" cap="flat">
              <a:solidFill>
                <a:srgbClr val="26415A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Arial"/>
                </a:defRPr>
              </a:pPr>
            </a:p>
          </p:txBody>
        </p:sp>
        <p:sp>
          <p:nvSpPr>
            <p:cNvPr id="73" name="라우터 에이전트…"/>
            <p:cNvSpPr/>
            <p:nvPr/>
          </p:nvSpPr>
          <p:spPr>
            <a:xfrm>
              <a:off x="83088" y="6071"/>
              <a:ext cx="1396753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 sz="1100"/>
              </a:pPr>
              <a:r>
                <a:t>라우터 에이전트</a:t>
              </a:r>
            </a:p>
            <a:p>
              <a:pPr algn="ctr">
                <a:defRPr sz="800">
                  <a:solidFill>
                    <a:srgbClr val="A6A6A6"/>
                  </a:solidFill>
                </a:defRPr>
              </a:pPr>
              <a:r>
                <a:t>질의 의도 분류 → 4분기 라우팅</a:t>
              </a:r>
            </a:p>
            <a:p>
              <a:pPr algn="ctr">
                <a:defRPr sz="800">
                  <a:solidFill>
                    <a:srgbClr val="A6A6A6"/>
                  </a:solidFill>
                </a:defRPr>
              </a:pPr>
              <a:r>
                <a:t>문서검색 · 도구실행 · 역량질의 · 명확화</a:t>
              </a:r>
            </a:p>
          </p:txBody>
        </p:sp>
      </p:grpSp>
      <p:grpSp>
        <p:nvGrpSpPr>
          <p:cNvPr id="77" name="사각형: 둥근 모서리 4"/>
          <p:cNvGrpSpPr/>
          <p:nvPr/>
        </p:nvGrpSpPr>
        <p:grpSpPr>
          <a:xfrm>
            <a:off x="5868417" y="4324106"/>
            <a:ext cx="1562433" cy="561187"/>
            <a:chOff x="-1" y="0"/>
            <a:chExt cx="1562432" cy="561186"/>
          </a:xfrm>
        </p:grpSpPr>
        <p:sp>
          <p:nvSpPr>
            <p:cNvPr id="75" name="모서리가 둥근 직사각형"/>
            <p:cNvSpPr/>
            <p:nvPr/>
          </p:nvSpPr>
          <p:spPr>
            <a:xfrm>
              <a:off x="-2" y="3159"/>
              <a:ext cx="1562434" cy="558027"/>
            </a:xfrm>
            <a:prstGeom prst="roundRect">
              <a:avLst>
                <a:gd name="adj" fmla="val 16667"/>
              </a:avLst>
            </a:prstGeom>
            <a:solidFill>
              <a:srgbClr val="F2F2F2"/>
            </a:solidFill>
            <a:ln w="9525" cap="flat">
              <a:solidFill>
                <a:srgbClr val="26415A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Arial"/>
                </a:defRPr>
              </a:pPr>
            </a:p>
          </p:txBody>
        </p:sp>
        <p:sp>
          <p:nvSpPr>
            <p:cNvPr id="76" name="검색 서브 에이전트…"/>
            <p:cNvSpPr/>
            <p:nvPr/>
          </p:nvSpPr>
          <p:spPr>
            <a:xfrm>
              <a:off x="83066" y="-1"/>
              <a:ext cx="1396298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 sz="1100"/>
              </a:pPr>
              <a:r>
                <a:t>문서 검색 (Self-RAG)</a:t>
              </a:r>
            </a:p>
            <a:p>
              <a:pPr algn="ctr">
                <a:defRPr sz="800">
                  <a:solidFill>
                    <a:srgbClr val="A6A6A6"/>
                  </a:solidFill>
                </a:defRPr>
              </a:pPr>
              <a:r>
                <a:t>권한 필터 → 검색 → 문서 평가</a:t>
              </a:r>
            </a:p>
            <a:p>
              <a:pPr algn="ctr">
                <a:defRPr sz="800">
                  <a:solidFill>
                    <a:srgbClr val="A6A6A6"/>
                  </a:solidFill>
                </a:defRPr>
              </a:pPr>
              <a:r>
                <a:t>품질 미달 시 질의 재작성 재시도</a:t>
              </a:r>
            </a:p>
          </p:txBody>
        </p:sp>
      </p:grpSp>
      <p:grpSp>
        <p:nvGrpSpPr>
          <p:cNvPr id="80" name="사각형: 둥근 모서리 5"/>
          <p:cNvGrpSpPr/>
          <p:nvPr/>
        </p:nvGrpSpPr>
        <p:grpSpPr>
          <a:xfrm>
            <a:off x="5868425" y="4939274"/>
            <a:ext cx="1562426" cy="558032"/>
            <a:chOff x="0" y="0"/>
            <a:chExt cx="1562425" cy="558030"/>
          </a:xfrm>
        </p:grpSpPr>
        <p:sp>
          <p:nvSpPr>
            <p:cNvPr id="78" name="모서리가 둥근 직사각형"/>
            <p:cNvSpPr/>
            <p:nvPr/>
          </p:nvSpPr>
          <p:spPr>
            <a:xfrm>
              <a:off x="0" y="0"/>
              <a:ext cx="1562426" cy="558031"/>
            </a:xfrm>
            <a:prstGeom prst="roundRect">
              <a:avLst>
                <a:gd name="adj" fmla="val 16667"/>
              </a:avLst>
            </a:prstGeom>
            <a:solidFill>
              <a:srgbClr val="F2F2F2"/>
            </a:solidFill>
            <a:ln w="9525" cap="flat">
              <a:solidFill>
                <a:srgbClr val="26415A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Arial"/>
                </a:defRPr>
              </a:pPr>
            </a:p>
          </p:txBody>
        </p:sp>
        <p:sp>
          <p:nvSpPr>
            <p:cNvPr id="79" name="요약 서브 에이전트…"/>
            <p:cNvSpPr/>
            <p:nvPr/>
          </p:nvSpPr>
          <p:spPr>
            <a:xfrm>
              <a:off x="83063" y="15564"/>
              <a:ext cx="1396299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 sz="1100"/>
              </a:pPr>
              <a:r>
                <a:t>도구 실행 (HITL)</a:t>
              </a:r>
            </a:p>
            <a:p>
              <a:pPr algn="ctr">
                <a:defRPr sz="800">
                  <a:solidFill>
                    <a:srgbClr val="A6A6A6"/>
                  </a:solidFill>
                </a:defRPr>
              </a:pPr>
              <a:r>
                <a:t>tool_gate → 사람 승인(confirm)</a:t>
              </a:r>
            </a:p>
            <a:p>
              <a:pPr algn="ctr">
                <a:defRPr sz="800">
                  <a:solidFill>
                    <a:srgbClr val="A6A6A6"/>
                  </a:solidFill>
                </a:defRPr>
              </a:pPr>
              <a:r>
                <a:t>justify_execute 도구 실행 루프</a:t>
              </a:r>
            </a:p>
          </p:txBody>
        </p:sp>
      </p:grpSp>
      <p:grpSp>
        <p:nvGrpSpPr>
          <p:cNvPr id="83" name="사각형: 둥근 모서리 6"/>
          <p:cNvGrpSpPr/>
          <p:nvPr/>
        </p:nvGrpSpPr>
        <p:grpSpPr>
          <a:xfrm>
            <a:off x="7994021" y="4939266"/>
            <a:ext cx="1562947" cy="558030"/>
            <a:chOff x="-1" y="0"/>
            <a:chExt cx="1562946" cy="558028"/>
          </a:xfrm>
        </p:grpSpPr>
        <p:sp>
          <p:nvSpPr>
            <p:cNvPr id="81" name="모서리가 둥근 직사각형"/>
            <p:cNvSpPr/>
            <p:nvPr/>
          </p:nvSpPr>
          <p:spPr>
            <a:xfrm>
              <a:off x="-2" y="-1"/>
              <a:ext cx="1562948" cy="558029"/>
            </a:xfrm>
            <a:prstGeom prst="roundRect">
              <a:avLst>
                <a:gd name="adj" fmla="val 16667"/>
              </a:avLst>
            </a:prstGeom>
            <a:solidFill>
              <a:srgbClr val="F2F2F2"/>
            </a:solidFill>
            <a:ln w="9525" cap="flat">
              <a:solidFill>
                <a:srgbClr val="26415A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Arial"/>
                </a:defRPr>
              </a:pPr>
            </a:p>
          </p:txBody>
        </p:sp>
        <p:sp>
          <p:nvSpPr>
            <p:cNvPr id="82" name="응답 생성…"/>
            <p:cNvSpPr/>
            <p:nvPr/>
          </p:nvSpPr>
          <p:spPr>
            <a:xfrm>
              <a:off x="83097" y="4471"/>
              <a:ext cx="1396750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 sz="1100"/>
              </a:pPr>
              <a:r>
                <a:t>응답 생성 · 검증</a:t>
              </a:r>
            </a:p>
            <a:p>
              <a:pPr algn="ctr">
                <a:defRPr sz="800">
                  <a:solidFill>
                    <a:srgbClr val="A6A6A6"/>
                  </a:solidFill>
                </a:defRPr>
              </a:pPr>
              <a:r>
                <a:t>generate → 환각 검사(재생성)</a:t>
              </a:r>
            </a:p>
            <a:p>
              <a:pPr algn="ctr">
                <a:defRPr sz="800">
                  <a:solidFill>
                    <a:srgbClr val="A6A6A6"/>
                  </a:solidFill>
                </a:defRPr>
              </a:pPr>
              <a:r>
                <a:t>save_memory → END</a:t>
              </a:r>
            </a:p>
          </p:txBody>
        </p:sp>
      </p:grpSp>
      <p:grpSp>
        <p:nvGrpSpPr>
          <p:cNvPr id="86" name="사각형: 둥근 모서리 5"/>
          <p:cNvGrpSpPr/>
          <p:nvPr/>
        </p:nvGrpSpPr>
        <p:grpSpPr>
          <a:xfrm>
            <a:off x="5868425" y="5551270"/>
            <a:ext cx="1562426" cy="558033"/>
            <a:chOff x="0" y="0"/>
            <a:chExt cx="1562425" cy="558031"/>
          </a:xfrm>
        </p:grpSpPr>
        <p:sp>
          <p:nvSpPr>
            <p:cNvPr id="84" name="모서리가 둥근 직사각형"/>
            <p:cNvSpPr/>
            <p:nvPr/>
          </p:nvSpPr>
          <p:spPr>
            <a:xfrm>
              <a:off x="0" y="0"/>
              <a:ext cx="1562426" cy="558032"/>
            </a:xfrm>
            <a:prstGeom prst="roundRect">
              <a:avLst>
                <a:gd name="adj" fmla="val 16667"/>
              </a:avLst>
            </a:prstGeom>
            <a:solidFill>
              <a:srgbClr val="F2F2F2"/>
            </a:solidFill>
            <a:ln w="9525" cap="flat">
              <a:solidFill>
                <a:srgbClr val="26415A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Arial"/>
                </a:defRPr>
              </a:pPr>
            </a:p>
          </p:txBody>
        </p:sp>
        <p:sp>
          <p:nvSpPr>
            <p:cNvPr id="85" name="요약 서브 에이전트…"/>
            <p:cNvSpPr/>
            <p:nvPr/>
          </p:nvSpPr>
          <p:spPr>
            <a:xfrm>
              <a:off x="83063" y="7321"/>
              <a:ext cx="1396299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 sz="1100"/>
              </a:pPr>
              <a:r>
                <a:t>역량 질의</a:t>
              </a:r>
            </a:p>
            <a:p>
              <a:pPr algn="ctr">
                <a:defRPr sz="800">
                  <a:solidFill>
                    <a:srgbClr val="A6A6A6"/>
                  </a:solidFill>
                </a:defRPr>
              </a:pPr>
              <a:r>
                <a:t>시스템 능력·범위 응답</a:t>
              </a:r>
            </a:p>
            <a:p>
              <a:pPr algn="ctr">
                <a:defRPr sz="800">
                  <a:solidFill>
                    <a:srgbClr val="A6A6A6"/>
                  </a:solidFill>
                </a:defRPr>
              </a:pPr>
              <a:r>
                <a:t>generate 생략 → save_memory → END</a:t>
              </a:r>
            </a:p>
          </p:txBody>
        </p:sp>
      </p:grpSp>
      <p:grpSp>
        <p:nvGrpSpPr>
          <p:cNvPr id="89" name="사각형: 둥근 모서리 5"/>
          <p:cNvGrpSpPr/>
          <p:nvPr/>
        </p:nvGrpSpPr>
        <p:grpSpPr>
          <a:xfrm>
            <a:off x="5868410" y="6163265"/>
            <a:ext cx="1562437" cy="558030"/>
            <a:chOff x="-1" y="0"/>
            <a:chExt cx="1562436" cy="558028"/>
          </a:xfrm>
        </p:grpSpPr>
        <p:sp>
          <p:nvSpPr>
            <p:cNvPr id="87" name="모서리가 둥근 직사각형"/>
            <p:cNvSpPr/>
            <p:nvPr/>
          </p:nvSpPr>
          <p:spPr>
            <a:xfrm>
              <a:off x="-2" y="-1"/>
              <a:ext cx="1562438" cy="558029"/>
            </a:xfrm>
            <a:prstGeom prst="roundRect">
              <a:avLst>
                <a:gd name="adj" fmla="val 16667"/>
              </a:avLst>
            </a:prstGeom>
            <a:solidFill>
              <a:srgbClr val="F2F2F2"/>
            </a:solidFill>
            <a:ln w="9525" cap="flat">
              <a:solidFill>
                <a:srgbClr val="26415A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Arial"/>
                </a:defRPr>
              </a:pPr>
            </a:p>
          </p:txBody>
        </p:sp>
        <p:sp>
          <p:nvSpPr>
            <p:cNvPr id="88" name="요약 서브 에이전트…"/>
            <p:cNvSpPr/>
            <p:nvPr/>
          </p:nvSpPr>
          <p:spPr>
            <a:xfrm>
              <a:off x="83068" y="12096"/>
              <a:ext cx="1396299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 sz="1100"/>
              </a:pPr>
              <a:r>
                <a:t>명확화 (interrupt)</a:t>
              </a:r>
            </a:p>
            <a:p>
              <a:pPr algn="ctr">
                <a:defRPr sz="800">
                  <a:solidFill>
                    <a:srgbClr val="A6A6A6"/>
                  </a:solidFill>
                </a:defRPr>
              </a:pPr>
              <a:r>
                <a:t>모호한 질의 사용자 재확인</a:t>
              </a:r>
            </a:p>
            <a:p>
              <a:pPr algn="ctr">
                <a:defRPr sz="800">
                  <a:solidFill>
                    <a:srgbClr val="A6A6A6"/>
                  </a:solidFill>
                </a:defRPr>
              </a:pPr>
              <a:r>
                <a:t>권한검색 또는 도구실행 재분기</a:t>
              </a:r>
            </a:p>
          </p:txBody>
        </p:sp>
      </p:grpSp>
      <p:sp>
        <p:nvSpPr>
          <p:cNvPr id="90" name="Connector 83"/>
          <p:cNvSpPr/>
          <p:nvPr/>
        </p:nvSpPr>
        <p:spPr>
          <a:xfrm>
            <a:off x="3172024" y="5454079"/>
            <a:ext cx="576009" cy="13"/>
          </a:xfrm>
          <a:prstGeom prst="line">
            <a:avLst/>
          </a:prstGeom>
          <a:ln w="19050">
            <a:solidFill>
              <a:srgbClr val="5B6B7A"/>
            </a:solidFill>
            <a:tailEnd type="triangle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" name="Connector 84"/>
          <p:cNvSpPr/>
          <p:nvPr/>
        </p:nvSpPr>
        <p:spPr>
          <a:xfrm flipV="1">
            <a:off x="5310425" y="4608080"/>
            <a:ext cx="558013" cy="846008"/>
          </a:xfrm>
          <a:prstGeom prst="line">
            <a:avLst/>
          </a:prstGeom>
          <a:ln w="19050">
            <a:solidFill>
              <a:srgbClr val="5B6B7A"/>
            </a:solidFill>
            <a:tailEnd type="triangle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" name="Connector 85"/>
          <p:cNvSpPr/>
          <p:nvPr/>
        </p:nvSpPr>
        <p:spPr>
          <a:xfrm flipV="1">
            <a:off x="5310425" y="5220080"/>
            <a:ext cx="558013" cy="234003"/>
          </a:xfrm>
          <a:prstGeom prst="line">
            <a:avLst/>
          </a:prstGeom>
          <a:ln w="19050">
            <a:solidFill>
              <a:srgbClr val="5B6B7A"/>
            </a:solidFill>
            <a:tailEnd type="triangle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" name="Connector 86"/>
          <p:cNvSpPr/>
          <p:nvPr/>
        </p:nvSpPr>
        <p:spPr>
          <a:xfrm>
            <a:off x="5310425" y="5454079"/>
            <a:ext cx="558013" cy="378013"/>
          </a:xfrm>
          <a:prstGeom prst="line">
            <a:avLst/>
          </a:prstGeom>
          <a:ln w="19050">
            <a:solidFill>
              <a:srgbClr val="5B6B7A"/>
            </a:solidFill>
            <a:tailEnd type="triangle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" name="Connector 87"/>
          <p:cNvSpPr/>
          <p:nvPr/>
        </p:nvSpPr>
        <p:spPr>
          <a:xfrm>
            <a:off x="5310425" y="5454079"/>
            <a:ext cx="558013" cy="990012"/>
          </a:xfrm>
          <a:prstGeom prst="line">
            <a:avLst/>
          </a:prstGeom>
          <a:ln w="19050">
            <a:solidFill>
              <a:srgbClr val="5B6B7A"/>
            </a:solidFill>
            <a:tailEnd type="triangle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" name="Connector 88"/>
          <p:cNvSpPr/>
          <p:nvPr/>
        </p:nvSpPr>
        <p:spPr>
          <a:xfrm>
            <a:off x="7430826" y="4608079"/>
            <a:ext cx="561613" cy="612013"/>
          </a:xfrm>
          <a:prstGeom prst="line">
            <a:avLst/>
          </a:prstGeom>
          <a:ln w="19050">
            <a:solidFill>
              <a:srgbClr val="5B6B7A"/>
            </a:solidFill>
            <a:tailEnd type="triangle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" name="Connector 89"/>
          <p:cNvSpPr/>
          <p:nvPr/>
        </p:nvSpPr>
        <p:spPr>
          <a:xfrm>
            <a:off x="7430826" y="5220079"/>
            <a:ext cx="561613" cy="13"/>
          </a:xfrm>
          <a:prstGeom prst="line">
            <a:avLst/>
          </a:prstGeom>
          <a:ln w="19050">
            <a:solidFill>
              <a:srgbClr val="5B6B7A"/>
            </a:solidFill>
            <a:tailEnd type="triangle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" name="Connector 90"/>
          <p:cNvSpPr/>
          <p:nvPr/>
        </p:nvSpPr>
        <p:spPr>
          <a:xfrm flipV="1">
            <a:off x="7430826" y="5220079"/>
            <a:ext cx="561613" cy="612010"/>
          </a:xfrm>
          <a:prstGeom prst="line">
            <a:avLst/>
          </a:prstGeom>
          <a:ln w="19050">
            <a:solidFill>
              <a:srgbClr val="5B6B7A"/>
            </a:solidFill>
            <a:tailEnd type="triangle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" name="Connector 91"/>
          <p:cNvSpPr/>
          <p:nvPr/>
        </p:nvSpPr>
        <p:spPr>
          <a:xfrm flipH="1" flipV="1">
            <a:off x="4529225" y="5788878"/>
            <a:ext cx="1339209" cy="655213"/>
          </a:xfrm>
          <a:prstGeom prst="line">
            <a:avLst/>
          </a:prstGeom>
          <a:ln w="19050">
            <a:solidFill>
              <a:srgbClr val="5B6B7A"/>
            </a:solidFill>
            <a:prstDash val="dash"/>
            <a:tailEnd type="triangle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35;p9"/>
          <p:cNvSpPr txBox="1"/>
          <p:nvPr>
            <p:ph type="body" sz="quarter" idx="1"/>
          </p:nvPr>
        </p:nvSpPr>
        <p:spPr>
          <a:xfrm>
            <a:off x="131492" y="151627"/>
            <a:ext cx="627523" cy="595442"/>
          </a:xfrm>
          <a:prstGeom prst="rect">
            <a:avLst/>
          </a:prstGeom>
        </p:spPr>
        <p:txBody>
          <a:bodyPr/>
          <a:lstStyle>
            <a:lvl1pPr indent="0">
              <a:spcBef>
                <a:spcPts val="0"/>
              </a:spcBef>
            </a:lvl1pPr>
          </a:lstStyle>
          <a:p>
            <a:pPr/>
            <a:r>
              <a:t>03</a:t>
            </a:r>
          </a:p>
        </p:txBody>
      </p:sp>
      <p:sp>
        <p:nvSpPr>
          <p:cNvPr id="101" name="Google Shape;136;p9"/>
          <p:cNvSpPr txBox="1"/>
          <p:nvPr>
            <p:ph type="title"/>
          </p:nvPr>
        </p:nvSpPr>
        <p:spPr>
          <a:xfrm>
            <a:off x="1016510" y="306961"/>
            <a:ext cx="6130985" cy="440105"/>
          </a:xfrm>
          <a:prstGeom prst="rect">
            <a:avLst/>
          </a:prstGeom>
        </p:spPr>
        <p:txBody>
          <a:bodyPr/>
          <a:lstStyle>
            <a:lvl1pPr defTabSz="740662">
              <a:defRPr b="1" sz="22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일정 &amp; 마일스톤</a:t>
            </a:r>
          </a:p>
        </p:txBody>
      </p:sp>
      <p:graphicFrame>
        <p:nvGraphicFramePr>
          <p:cNvPr id="102" name="표 1"/>
          <p:cNvGraphicFramePr/>
          <p:nvPr/>
        </p:nvGraphicFramePr>
        <p:xfrm>
          <a:off x="334684" y="1096384"/>
          <a:ext cx="9236634" cy="5191760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1248227"/>
                <a:gridCol w="2151529"/>
                <a:gridCol w="4756417"/>
                <a:gridCol w="1080459"/>
              </a:tblGrid>
              <a:tr h="37084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주차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단계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주요 활동 / 산출물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담당자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0070C0"/>
                    </a:solidFill>
                  </a:tcPr>
                </a:tc>
              </a:tr>
              <a:tr h="370840">
                <a:tc rowSpan="3"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  <a:defRPr sz="1800"/>
                      </a:pPr>
                      <a:r>
                        <a:rPr sz="11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1 주차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  <a:defRPr sz="1800"/>
                      </a:pPr>
                      <a:r>
                        <a:rPr sz="11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기획·인프라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  <a:defRPr sz="1800"/>
                      </a:pPr>
                      <a:r>
                        <a:rPr sz="11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core 공용 인프라(로더·청커·임베더·벡터스토어·리트리버)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  <a:defRPr sz="1800"/>
                      </a:pPr>
                      <a:r>
                        <a:rPr sz="11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하동구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0840">
                <a:tc vMerge="1">
                  <a:tcPr/>
                </a:tc>
                <a:tc>
                  <a:txBody>
                    <a:bodyPr/>
                    <a:lstStyle/>
                    <a:p>
                      <a:pPr indent="0">
                        <a:buClrTx/>
                        <a:buSzTx/>
                        <a:buFontTx/>
                        <a:buNone/>
                      </a:pP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ClrTx/>
                        <a:buSzTx/>
                        <a:buFontTx/>
                        <a:buNone/>
                      </a:pP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ClrTx/>
                        <a:buSzTx/>
                        <a:buFontTx/>
                        <a:buNone/>
                      </a:pP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0840">
                <a:tc vMerge="1">
                  <a:tcPr/>
                </a:tc>
                <a:tc>
                  <a:txBody>
                    <a:bodyPr/>
                    <a:lstStyle/>
                    <a:p>
                      <a:pPr indent="0">
                        <a:buClrTx/>
                        <a:buSzTx/>
                        <a:buFontTx/>
                        <a:buNone/>
                      </a:pP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ClrTx/>
                        <a:buSzTx/>
                        <a:buFontTx/>
                        <a:buNone/>
                      </a:pP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ClrTx/>
                        <a:buSzTx/>
                        <a:buFontTx/>
                        <a:buNone/>
                      </a:pP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0840">
                <a:tc rowSpan="3"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  <a:defRPr sz="1800"/>
                      </a:pPr>
                      <a:r>
                        <a:rPr sz="11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2 주차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  <a:defRPr sz="1100">
                          <a:latin typeface="Calibri"/>
                          <a:ea typeface="Calibri"/>
                          <a:cs typeface="Calibri"/>
                          <a:sym typeface="Calibri"/>
                        </a:defRPr>
                      </a:pPr>
                      <a:r>
                        <a:t>개발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(</a:t>
                      </a:r>
                      <a:r>
                        <a:t>그래프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)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  <a:defRPr sz="1100">
                          <a:latin typeface="Calibri"/>
                          <a:ea typeface="Calibri"/>
                          <a:cs typeface="Calibri"/>
                          <a:sym typeface="Calibri"/>
                        </a:defRPr>
                      </a:pPr>
                      <a:r>
                        <a:t>워크플로우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(</a:t>
                      </a:r>
                      <a:r>
                        <a:t>라우터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·</a:t>
                      </a:r>
                      <a:r>
                        <a:t>검색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·Self-RAG), </a:t>
                      </a:r>
                      <a:r>
                        <a:t>멀티턴 메모리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, FastAPI(SSE), </a:t>
                      </a:r>
                      <a:r>
                        <a:t>웹 프론트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  <a:defRPr sz="1800"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하동구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0840">
                <a:tc vMerge="1">
                  <a:tcPr/>
                </a:tc>
                <a:tc>
                  <a:txBody>
                    <a:bodyPr/>
                    <a:lstStyle/>
                    <a:p>
                      <a:pPr indent="0">
                        <a:buClrTx/>
                        <a:buSzTx/>
                        <a:buFontTx/>
                        <a:buNone/>
                      </a:pP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ClrTx/>
                        <a:buSzTx/>
                        <a:buFontTx/>
                        <a:buNone/>
                      </a:pP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ClrTx/>
                        <a:buSzTx/>
                        <a:buFontTx/>
                        <a:buNone/>
                      </a:pP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0840">
                <a:tc vMerge="1">
                  <a:tcPr/>
                </a:tc>
                <a:tc>
                  <a:txBody>
                    <a:bodyPr/>
                    <a:lstStyle/>
                    <a:p>
                      <a:pPr indent="0">
                        <a:buClrTx/>
                        <a:buSzTx/>
                        <a:buFontTx/>
                        <a:buNone/>
                      </a:pP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ClrTx/>
                        <a:buSzTx/>
                        <a:buFontTx/>
                        <a:buNone/>
                      </a:pP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ClrTx/>
                        <a:buSzTx/>
                        <a:buFontTx/>
                        <a:buNone/>
                      </a:pP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0840">
                <a:tc rowSpan="4"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  <a:defRPr sz="1800"/>
                      </a:pPr>
                      <a:r>
                        <a:rPr sz="11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3 주차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  <a:defRPr sz="1100">
                          <a:latin typeface="Calibri"/>
                          <a:ea typeface="Calibri"/>
                          <a:cs typeface="Calibri"/>
                          <a:sym typeface="Calibri"/>
                        </a:defRPr>
                      </a:pPr>
                      <a:r>
                        <a:t>개발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(</a:t>
                      </a:r>
                      <a:r>
                        <a:t>접근제어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·</a:t>
                      </a:r>
                      <a:r>
                        <a:t>도구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)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  <a:defRPr sz="1100"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  <a:r>
                        <a:t>OpenFGA </a:t>
                      </a:r>
                      <a:r>
                        <a:rPr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접근제어</a:t>
                      </a:r>
                      <a:r>
                        <a:t>, HITL </a:t>
                      </a:r>
                      <a:r>
                        <a:rPr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승인</a:t>
                      </a:r>
                      <a:r>
                        <a:t>, DBA 에이전트, 권한 에이전트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  <a:defRPr sz="1800"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하동구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0840">
                <a:tc vMerge="1">
                  <a:tcPr/>
                </a:tc>
                <a:tc>
                  <a:txBody>
                    <a:bodyPr/>
                    <a:lstStyle/>
                    <a:p>
                      <a:pPr indent="0">
                        <a:buClrTx/>
                        <a:buSzTx/>
                        <a:buFontTx/>
                        <a:buNone/>
                      </a:pP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ClrTx/>
                        <a:buSzTx/>
                        <a:buFontTx/>
                        <a:buNone/>
                      </a:pP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ClrTx/>
                        <a:buSzTx/>
                        <a:buFontTx/>
                        <a:buNone/>
                      </a:pP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0840">
                <a:tc vMerge="1">
                  <a:tcPr/>
                </a:tc>
                <a:tc>
                  <a:txBody>
                    <a:bodyPr/>
                    <a:lstStyle/>
                    <a:p>
                      <a:pPr indent="0">
                        <a:buClrTx/>
                        <a:buSzTx/>
                        <a:buFontTx/>
                        <a:buNone/>
                      </a:pP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ClrTx/>
                        <a:buSzTx/>
                        <a:buFontTx/>
                        <a:buNone/>
                      </a:pP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ClrTx/>
                        <a:buSzTx/>
                        <a:buFontTx/>
                        <a:buNone/>
                      </a:pP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0840">
                <a:tc vMerge="1">
                  <a:tcPr/>
                </a:tc>
                <a:tc>
                  <a:txBody>
                    <a:bodyPr/>
                    <a:lstStyle/>
                    <a:p>
                      <a:pPr indent="0">
                        <a:buClrTx/>
                        <a:buSzTx/>
                        <a:buFontTx/>
                        <a:buNone/>
                      </a:pP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ClrTx/>
                        <a:buSzTx/>
                        <a:buFontTx/>
                        <a:buNone/>
                      </a:pP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ClrTx/>
                        <a:buSzTx/>
                        <a:buFontTx/>
                        <a:buNone/>
                      </a:pP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0840">
                <a:tc rowSpan="3"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  <a:defRPr sz="1100"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  <a:r>
                        <a:t>4 주차</a:t>
                      </a:r>
                    </a:p>
                    <a:p>
                      <a:pPr indent="0" algn="l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  <a:defRPr sz="1100"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  <a:r>
                        <a:t>(발표주)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  <a:defRPr sz="1100">
                          <a:latin typeface="Calibri"/>
                          <a:ea typeface="Calibri"/>
                          <a:cs typeface="Calibri"/>
                          <a:sym typeface="Calibri"/>
                        </a:defRPr>
                      </a:pPr>
                      <a:r>
                        <a:t>평가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·</a:t>
                      </a:r>
                      <a:r>
                        <a:t>데모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  <a:defRPr sz="1100"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  <a:r>
                        <a:t>eval </a:t>
                      </a:r>
                      <a:r>
                        <a:rPr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회귀 채점</a:t>
                      </a:r>
                      <a:r>
                        <a:t>, </a:t>
                      </a:r>
                      <a:r>
                        <a:rPr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데모 시나리오</a:t>
                      </a:r>
                      <a:r>
                        <a:t>, </a:t>
                      </a:r>
                      <a:r>
                        <a:rPr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발표 준비</a:t>
                      </a:r>
                      <a:r>
                        <a:t>(~6/8)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  <a:defRPr sz="1800"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하동구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0840">
                <a:tc vMerge="1">
                  <a:tcPr/>
                </a:tc>
                <a:tc>
                  <a:txBody>
                    <a:bodyPr/>
                    <a:lstStyle/>
                    <a:p>
                      <a:pPr indent="0">
                        <a:buClrTx/>
                        <a:buSzTx/>
                        <a:buFontTx/>
                        <a:buNone/>
                      </a:pP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ClrTx/>
                        <a:buSzTx/>
                        <a:buFontTx/>
                        <a:buNone/>
                      </a:pP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ClrTx/>
                        <a:buSzTx/>
                        <a:buFontTx/>
                        <a:buNone/>
                      </a:pP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0840">
                <a:tc vMerge="1">
                  <a:tcPr/>
                </a:tc>
                <a:tc>
                  <a:txBody>
                    <a:bodyPr/>
                    <a:lstStyle/>
                    <a:p>
                      <a:pPr indent="0">
                        <a:buClrTx/>
                        <a:buSzTx/>
                        <a:buFontTx/>
                        <a:buNone/>
                      </a:pP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ClrTx/>
                        <a:buSzTx/>
                        <a:buFontTx/>
                        <a:buNone/>
                      </a:pP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ClrTx/>
                        <a:buSzTx/>
                        <a:buFontTx/>
                        <a:buNone/>
                      </a:pP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35;p9"/>
          <p:cNvSpPr txBox="1"/>
          <p:nvPr>
            <p:ph type="body" sz="quarter" idx="1"/>
          </p:nvPr>
        </p:nvSpPr>
        <p:spPr>
          <a:xfrm>
            <a:off x="131492" y="151627"/>
            <a:ext cx="627523" cy="595442"/>
          </a:xfrm>
          <a:prstGeom prst="rect">
            <a:avLst/>
          </a:prstGeom>
        </p:spPr>
        <p:txBody>
          <a:bodyPr/>
          <a:lstStyle>
            <a:lvl1pPr indent="0">
              <a:spcBef>
                <a:spcPts val="0"/>
              </a:spcBef>
            </a:lvl1pPr>
          </a:lstStyle>
          <a:p>
            <a:pPr/>
            <a:r>
              <a:t>04</a:t>
            </a:r>
          </a:p>
        </p:txBody>
      </p:sp>
      <p:sp>
        <p:nvSpPr>
          <p:cNvPr id="105" name="Google Shape;136;p9"/>
          <p:cNvSpPr txBox="1"/>
          <p:nvPr>
            <p:ph type="title"/>
          </p:nvPr>
        </p:nvSpPr>
        <p:spPr>
          <a:xfrm>
            <a:off x="1016510" y="306961"/>
            <a:ext cx="6130985" cy="440105"/>
          </a:xfrm>
          <a:prstGeom prst="rect">
            <a:avLst/>
          </a:prstGeom>
        </p:spPr>
        <p:txBody>
          <a:bodyPr/>
          <a:lstStyle>
            <a:lvl1pPr defTabSz="740662">
              <a:defRPr b="1" sz="22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역할 분담 &amp; 협업 규칙</a:t>
            </a:r>
          </a:p>
        </p:txBody>
      </p:sp>
      <p:graphicFrame>
        <p:nvGraphicFramePr>
          <p:cNvPr id="106" name="표 1"/>
          <p:cNvGraphicFramePr/>
          <p:nvPr/>
        </p:nvGraphicFramePr>
        <p:xfrm>
          <a:off x="334683" y="1096384"/>
          <a:ext cx="9108993" cy="5191760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1763058"/>
                <a:gridCol w="7345935"/>
              </a:tblGrid>
              <a:tr h="37084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작업 규칙 &amp; 형상 관리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내용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0070C0"/>
                    </a:solidFill>
                  </a:tcPr>
                </a:tc>
              </a:tr>
              <a:tr h="111252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  <a:defRPr sz="1800"/>
                      </a:pPr>
                      <a:r>
                        <a:rPr sz="11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R&amp;R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  <a:defRPr sz="1800"/>
                      </a:pPr>
                      <a:r>
                        <a:rPr sz="1100"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기획·리서치·개발·테스트·문서·발표 1인 수행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1252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  <a:defRPr sz="1800"/>
                      </a:pPr>
                      <a:r>
                        <a:rPr sz="11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작업 규율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  <a:defRPr sz="1800"/>
                      </a:pPr>
                      <a:r>
                        <a:rPr sz="1100"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플러그인 [Superpowers] spec → plan → 구현 → 테스트(pytest) → eval 회귀 확인을 DoD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8336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  <a:defRPr sz="1800"/>
                      </a:pPr>
                      <a:r>
                        <a:rPr sz="11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형상 관리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  <a:defRPr sz="1100">
                          <a:latin typeface="맑은 고딕"/>
                          <a:ea typeface="맑은 고딕"/>
                          <a:cs typeface="맑은 고딕"/>
                          <a:sym typeface="맑은 고딕"/>
                        </a:defRPr>
                      </a:pPr>
                      <a:r>
                        <a:t>Git/GitHub(</a:t>
                      </a:r>
                      <a:r>
                        <a:rPr u="sng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hlinkClick r:id="rId2" invalidUrl="" action="" tgtFrame="" tooltip="" history="1" highlightClick="0" endSnd="0"/>
                        </a:rPr>
                        <a:t>https://github.com/ACACIANh/company-rag</a:t>
                      </a:r>
                      <a:r>
                        <a:t>)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1252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  <a:defRPr sz="1800"/>
                      </a:pPr>
                      <a:r>
                        <a:rPr sz="11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의사 결정 기록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  <a:defRPr sz="1800"/>
                      </a:pPr>
                      <a:r>
                        <a:rPr sz="1100"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설계 판단을 ADR 문서화 - 약 50 여건(docs/superpowers/decisions/)</a:t>
                      </a:r>
                    </a:p>
                  </a:txBody>
                  <a:tcPr marL="63500" marR="63500" marT="63500" marB="6350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35;p9"/>
          <p:cNvSpPr txBox="1"/>
          <p:nvPr>
            <p:ph type="body" sz="quarter" idx="1"/>
          </p:nvPr>
        </p:nvSpPr>
        <p:spPr>
          <a:xfrm>
            <a:off x="131492" y="151627"/>
            <a:ext cx="627523" cy="595442"/>
          </a:xfrm>
          <a:prstGeom prst="rect">
            <a:avLst/>
          </a:prstGeom>
        </p:spPr>
        <p:txBody>
          <a:bodyPr/>
          <a:lstStyle>
            <a:lvl1pPr indent="0">
              <a:spcBef>
                <a:spcPts val="0"/>
              </a:spcBef>
            </a:lvl1pPr>
          </a:lstStyle>
          <a:p>
            <a:pPr/>
            <a:r>
              <a:t>05</a:t>
            </a:r>
          </a:p>
        </p:txBody>
      </p:sp>
      <p:sp>
        <p:nvSpPr>
          <p:cNvPr id="109" name="Google Shape;136;p9"/>
          <p:cNvSpPr txBox="1"/>
          <p:nvPr>
            <p:ph type="title"/>
          </p:nvPr>
        </p:nvSpPr>
        <p:spPr>
          <a:xfrm>
            <a:off x="1016510" y="306961"/>
            <a:ext cx="6130985" cy="440105"/>
          </a:xfrm>
          <a:prstGeom prst="rect">
            <a:avLst/>
          </a:prstGeom>
        </p:spPr>
        <p:txBody>
          <a:bodyPr/>
          <a:lstStyle>
            <a:lvl1pPr defTabSz="740662">
              <a:defRPr b="1" sz="22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예상 리스크 &amp; 성공 기준</a:t>
            </a:r>
          </a:p>
        </p:txBody>
      </p:sp>
      <p:graphicFrame>
        <p:nvGraphicFramePr>
          <p:cNvPr id="110" name="표 1"/>
          <p:cNvGraphicFramePr/>
          <p:nvPr/>
        </p:nvGraphicFramePr>
        <p:xfrm>
          <a:off x="334683" y="1011858"/>
          <a:ext cx="9108993" cy="5360286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1763058"/>
                <a:gridCol w="7345935"/>
              </a:tblGrid>
              <a:tr h="358548">
                <a:tc gridSpan="2"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예상되는 어려움 / 리스크 (3가지)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0070C0"/>
                    </a:solidFill>
                  </a:tcPr>
                </a:tc>
                <a:tc hMerge="1">
                  <a:tcPr/>
                </a:tc>
              </a:tr>
              <a:tr h="357021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  <a:defRPr sz="1800"/>
                      </a:pPr>
                      <a:r>
                        <a:rPr b="1" sz="11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환각·근거 없는 오답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  <a:defRPr sz="1800"/>
                      </a:pPr>
                      <a:r>
                        <a:rPr b="1" sz="1100"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Self-RAG(문서평가+환각검사 후 재시도) + 출처 인용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5761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  <a:defRPr sz="1800"/>
                      </a:pPr>
                      <a:r>
                        <a:rPr b="1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권한 오설정에 따른 정보유출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  <a:defRPr sz="1800"/>
                      </a:pPr>
                      <a:r>
                        <a:rPr b="1" sz="1100"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FGA 검색 전 pre-filter + 부트스트랩 정합화(seed --prune) + 접근 테스트(FGA 72+건)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6043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  <a:defRPr b="1" sz="1100"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  <a:r>
                        <a:t>LLM·</a:t>
                      </a:r>
                      <a:r>
                        <a:rPr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외부 인프라 의존</a:t>
                      </a:r>
                      <a:r>
                        <a:t>(</a:t>
                      </a:r>
                      <a:r>
                        <a:rPr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비용</a:t>
                      </a:r>
                      <a:r>
                        <a:t>·</a:t>
                      </a:r>
                      <a:r>
                        <a:rPr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지연</a:t>
                      </a:r>
                      <a:r>
                        <a:t>·</a:t>
                      </a:r>
                      <a:r>
                        <a:rPr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장애</a:t>
                      </a:r>
                      <a:r>
                        <a:t>)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  <a:defRPr sz="1800"/>
                      </a:pPr>
                      <a:r>
                        <a:rPr b="1" sz="1100"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ABC+Factory로 프로바이더 교체 + FGA TTL 캐시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6326">
                <a:tc>
                  <a:txBody>
                    <a:bodyPr/>
                    <a:lstStyle/>
                    <a:p>
                      <a:pPr indent="0">
                        <a:buClrTx/>
                        <a:buSzTx/>
                        <a:buFontTx/>
                        <a:buNone/>
                      </a:pP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ClrTx/>
                        <a:buSzTx/>
                        <a:buFontTx/>
                        <a:buNone/>
                      </a:pP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6043">
                <a:tc gridSpan="2"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성공 기준 (이 프로젝트가 ‘성공했다’고 말할 수 있는 조건)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0070C0"/>
                    </a:solidFill>
                  </a:tcPr>
                </a:tc>
                <a:tc hMerge="1">
                  <a:tcPr/>
                </a:tc>
              </a:tr>
              <a:tr h="1956606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  <a:defRPr sz="1800"/>
                      </a:pPr>
                      <a:r>
                        <a:rPr b="1" sz="11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측정 체계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  <a:defRPr sz="1800"/>
                      </a:pPr>
                      <a:r>
                        <a:rPr b="1" sz="1100"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eval 회귀 채점 보유(tests/eval/questions.yaml + runner): recall@k(1·3·5) / keyword 적중률 / MRR / route 정확도. 변경 시 회귀 확인이 DoD. (정량 목표치는 미설정)</a:t>
                      </a:r>
                    </a:p>
                  </a:txBody>
                  <a:tcPr marL="63500" marR="63500" marT="63500" marB="6350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23937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  <a:defRPr sz="1800"/>
                      </a:pPr>
                      <a:r>
                        <a:rPr b="1" sz="11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정성적 기준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  <a:defRPr sz="1800"/>
                      </a:pPr>
                      <a:r>
                        <a:rPr b="1" sz="1100"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데모 시나리오 정상 동작, 권한 차단 시나리오 시연(권한 밖 질문→접근 거부), 출처 인용 답변 시연</a:t>
                      </a:r>
                    </a:p>
                  </a:txBody>
                  <a:tcPr marL="63500" marR="63500" marT="63500" marB="6350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45;p10"/>
          <p:cNvSpPr txBox="1"/>
          <p:nvPr>
            <p:ph type="body" sz="quarter" idx="1"/>
          </p:nvPr>
        </p:nvSpPr>
        <p:spPr>
          <a:xfrm>
            <a:off x="131492" y="151627"/>
            <a:ext cx="627523" cy="595442"/>
          </a:xfrm>
          <a:prstGeom prst="rect">
            <a:avLst/>
          </a:prstGeom>
        </p:spPr>
        <p:txBody>
          <a:bodyPr/>
          <a:lstStyle>
            <a:lvl1pPr indent="0">
              <a:spcBef>
                <a:spcPts val="0"/>
              </a:spcBef>
            </a:lvl1pPr>
          </a:lstStyle>
          <a:p>
            <a:pPr/>
            <a:r>
              <a:t>06</a:t>
            </a:r>
          </a:p>
        </p:txBody>
      </p:sp>
      <p:sp>
        <p:nvSpPr>
          <p:cNvPr id="113" name="Google Shape;146;p10"/>
          <p:cNvSpPr txBox="1"/>
          <p:nvPr>
            <p:ph type="title"/>
          </p:nvPr>
        </p:nvSpPr>
        <p:spPr>
          <a:xfrm>
            <a:off x="1016510" y="306961"/>
            <a:ext cx="6130985" cy="440105"/>
          </a:xfrm>
          <a:prstGeom prst="rect">
            <a:avLst/>
          </a:prstGeom>
        </p:spPr>
        <p:txBody>
          <a:bodyPr/>
          <a:lstStyle>
            <a:lvl1pPr defTabSz="868680">
              <a:defRPr b="1" sz="2300"/>
            </a:lvl1pPr>
          </a:lstStyle>
          <a:p>
            <a:pPr/>
            <a:r>
              <a:t>마치며</a:t>
            </a:r>
          </a:p>
        </p:txBody>
      </p:sp>
      <p:sp>
        <p:nvSpPr>
          <p:cNvPr id="114" name="사각형: 둥근 모서리 1"/>
          <p:cNvSpPr txBox="1"/>
          <p:nvPr/>
        </p:nvSpPr>
        <p:spPr>
          <a:xfrm>
            <a:off x="536503" y="1881364"/>
            <a:ext cx="8470143" cy="1616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 marL="285750" indent="-285750">
              <a:buClr>
                <a:srgbClr val="000000"/>
              </a:buClr>
              <a:buSzPct val="100000"/>
              <a:buChar char="◆"/>
              <a:defRPr sz="1600"/>
            </a:pPr>
            <a:r>
              <a:t>애로 사항</a:t>
            </a:r>
            <a:r>
              <a:rPr>
                <a:latin typeface="+mn-lt"/>
                <a:ea typeface="+mn-ea"/>
                <a:cs typeface="+mn-cs"/>
                <a:sym typeface="Arial"/>
              </a:rPr>
              <a:t>: 다양한 case 의 회사 형태 중 하나를 정하지 못하여 </a:t>
            </a:r>
            <a:r>
              <a:t>접근제어</a:t>
            </a:r>
            <a:r>
              <a:rPr>
                <a:latin typeface="+mn-lt"/>
                <a:ea typeface="+mn-ea"/>
                <a:cs typeface="+mn-cs"/>
                <a:sym typeface="Arial"/>
              </a:rPr>
              <a:t> </a:t>
            </a:r>
            <a:r>
              <a:t>권한 모델링 </a:t>
            </a:r>
            <a:r>
              <a:rPr>
                <a:latin typeface="+mn-lt"/>
                <a:ea typeface="+mn-ea"/>
                <a:cs typeface="+mn-cs"/>
                <a:sym typeface="Arial"/>
              </a:rPr>
              <a:t>— </a:t>
            </a:r>
            <a:r>
              <a:t>폴더</a:t>
            </a:r>
            <a:r>
              <a:rPr>
                <a:latin typeface="+mn-lt"/>
                <a:ea typeface="+mn-ea"/>
                <a:cs typeface="+mn-cs"/>
                <a:sym typeface="Arial"/>
              </a:rPr>
              <a:t>/</a:t>
            </a:r>
            <a:r>
              <a:t>문서</a:t>
            </a:r>
            <a:r>
              <a:rPr>
                <a:latin typeface="+mn-lt"/>
                <a:ea typeface="+mn-ea"/>
                <a:cs typeface="+mn-cs"/>
                <a:sym typeface="Arial"/>
              </a:rPr>
              <a:t>/</a:t>
            </a:r>
            <a:r>
              <a:t>테이블 권한을 여러 차례 재설계</a:t>
            </a:r>
            <a:r>
              <a:rPr>
                <a:latin typeface="+mn-lt"/>
                <a:ea typeface="+mn-ea"/>
                <a:cs typeface="+mn-cs"/>
                <a:sym typeface="Arial"/>
              </a:rPr>
              <a:t>(ADR 0011→0015·0028·0047·0050 </a:t>
            </a:r>
            <a:r>
              <a:t>등</a:t>
            </a:r>
            <a:r>
              <a:rPr>
                <a:latin typeface="+mn-lt"/>
                <a:ea typeface="+mn-ea"/>
                <a:cs typeface="+mn-cs"/>
                <a:sym typeface="Arial"/>
              </a:rPr>
              <a:t>)</a:t>
            </a:r>
          </a:p>
          <a:p>
            <a:pPr>
              <a:defRPr sz="1600"/>
            </a:pPr>
          </a:p>
          <a:p>
            <a:pPr marL="285750" indent="-285750">
              <a:buClr>
                <a:srgbClr val="000000"/>
              </a:buClr>
              <a:buSzPct val="100000"/>
              <a:buChar char="◆"/>
              <a:defRPr sz="1600"/>
            </a:pPr>
            <a:r>
              <a:t>아쉬운 점</a:t>
            </a:r>
            <a:r>
              <a:rPr>
                <a:latin typeface="+mn-lt"/>
                <a:ea typeface="+mn-ea"/>
                <a:cs typeface="+mn-cs"/>
                <a:sym typeface="Arial"/>
              </a:rPr>
              <a:t>: 흐릿한 방향성 및 기술/기획 추가, 초기 </a:t>
            </a:r>
            <a:r>
              <a:t>에이전틱 구성 미흡</a:t>
            </a:r>
          </a:p>
          <a:p>
            <a:pPr>
              <a:defRPr sz="1600"/>
            </a:pPr>
          </a:p>
          <a:p>
            <a:pPr marL="285750" indent="-285750">
              <a:buClr>
                <a:srgbClr val="000000"/>
              </a:buClr>
              <a:buSzPct val="100000"/>
              <a:buChar char="◆"/>
              <a:defRPr sz="1600"/>
            </a:pPr>
            <a:r>
              <a:t>향후 계획</a:t>
            </a:r>
            <a:r>
              <a:rPr>
                <a:latin typeface="+mn-lt"/>
                <a:ea typeface="+mn-ea"/>
                <a:cs typeface="+mn-cs"/>
                <a:sym typeface="Arial"/>
              </a:rPr>
              <a:t>: </a:t>
            </a:r>
            <a:r>
              <a:t>평가 지표 자동화</a:t>
            </a:r>
            <a:r>
              <a:rPr>
                <a:latin typeface="+mn-lt"/>
                <a:ea typeface="+mn-ea"/>
                <a:cs typeface="+mn-cs"/>
                <a:sym typeface="Arial"/>
              </a:rPr>
              <a:t>, </a:t>
            </a:r>
            <a:r>
              <a:t>정량 목표치 수립</a:t>
            </a:r>
            <a:r>
              <a:rPr>
                <a:latin typeface="+mn-lt"/>
                <a:ea typeface="+mn-ea"/>
                <a:cs typeface="+mn-cs"/>
                <a:sym typeface="Arial"/>
              </a:rPr>
              <a:t>, </a:t>
            </a:r>
            <a:r>
              <a:t>프로덕션 배포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테마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테마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